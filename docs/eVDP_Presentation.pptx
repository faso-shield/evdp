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28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913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213B"/>
          </a:solidFill>
          <a:ln/>
        </p:spPr>
      </p:sp>
      <p:sp>
        <p:nvSpPr>
          <p:cNvPr id="3" name="Shape 1"/>
          <p:cNvSpPr/>
          <p:nvPr/>
        </p:nvSpPr>
        <p:spPr>
          <a:xfrm>
            <a:off x="8412480" y="-2011680"/>
            <a:ext cx="6400800" cy="6400800"/>
          </a:xfrm>
          <a:prstGeom prst="ellipse">
            <a:avLst/>
          </a:prstGeom>
          <a:solidFill>
            <a:srgbClr val="17375E"/>
          </a:solidFill>
          <a:ln/>
        </p:spPr>
      </p:sp>
      <p:sp>
        <p:nvSpPr>
          <p:cNvPr id="4" name="Shape 2"/>
          <p:cNvSpPr/>
          <p:nvPr/>
        </p:nvSpPr>
        <p:spPr>
          <a:xfrm>
            <a:off x="9692640" y="3291840"/>
            <a:ext cx="3840480" cy="3840480"/>
          </a:xfrm>
          <a:prstGeom prst="ellipse">
            <a:avLst/>
          </a:prstGeom>
          <a:solidFill>
            <a:srgbClr val="0D7A5F"/>
          </a:solidFill>
          <a:ln/>
        </p:spPr>
      </p:sp>
      <p:sp>
        <p:nvSpPr>
          <p:cNvPr id="5" name="Shape 3"/>
          <p:cNvSpPr/>
          <p:nvPr/>
        </p:nvSpPr>
        <p:spPr>
          <a:xfrm>
            <a:off x="9966960" y="3566160"/>
            <a:ext cx="3291840" cy="3291840"/>
          </a:xfrm>
          <a:prstGeom prst="ellipse">
            <a:avLst/>
          </a:prstGeom>
          <a:solidFill>
            <a:srgbClr val="0D213B"/>
          </a:solidFill>
          <a:ln/>
        </p:spPr>
      </p:sp>
      <p:sp>
        <p:nvSpPr>
          <p:cNvPr id="6" name="Shape 4"/>
          <p:cNvSpPr/>
          <p:nvPr/>
        </p:nvSpPr>
        <p:spPr>
          <a:xfrm>
            <a:off x="11018520" y="4617720"/>
            <a:ext cx="1188720" cy="1188720"/>
          </a:xfrm>
          <a:prstGeom prst="ellipse">
            <a:avLst/>
          </a:prstGeom>
          <a:solidFill>
            <a:srgbClr val="C49428"/>
          </a:solidFill>
          <a:ln/>
        </p:spPr>
      </p:sp>
      <p:sp>
        <p:nvSpPr>
          <p:cNvPr id="7" name="Text 5"/>
          <p:cNvSpPr/>
          <p:nvPr/>
        </p:nvSpPr>
        <p:spPr>
          <a:xfrm>
            <a:off x="731520" y="640080"/>
            <a:ext cx="7315200" cy="365760"/>
          </a:xfrm>
          <a:prstGeom prst="rect">
            <a:avLst/>
          </a:prstGeom>
          <a:noFill/>
          <a:ln/>
        </p:spPr>
        <p:txBody>
          <a:bodyPr wrap="square" rtlCol="0" anchor="ctr"/>
          <a:lstStyle/>
          <a:p>
            <a:pPr marL="0" indent="0">
              <a:buNone/>
            </a:pPr>
            <a:r>
              <a:rPr lang="en-US" sz="1300" b="1" kern="0" spc="200" dirty="0">
                <a:solidFill>
                  <a:srgbClr val="DBF2EA"/>
                </a:solidFill>
                <a:latin typeface="Calibri" pitchFamily="34" charset="0"/>
                <a:ea typeface="Calibri" pitchFamily="34" charset="-122"/>
                <a:cs typeface="Calibri" pitchFamily="34" charset="-120"/>
              </a:rPr>
              <a:t>PROJET CYBER-DEF 2 — ÉQUIPE FASO SHIELD</a:t>
            </a:r>
            <a:endParaRPr lang="en-US" sz="1300" dirty="0"/>
          </a:p>
        </p:txBody>
      </p:sp>
      <p:sp>
        <p:nvSpPr>
          <p:cNvPr id="8" name="Text 6"/>
          <p:cNvSpPr/>
          <p:nvPr/>
        </p:nvSpPr>
        <p:spPr>
          <a:xfrm>
            <a:off x="685800" y="2286000"/>
            <a:ext cx="7315200" cy="1463040"/>
          </a:xfrm>
          <a:prstGeom prst="rect">
            <a:avLst/>
          </a:prstGeom>
          <a:noFill/>
          <a:ln/>
        </p:spPr>
        <p:txBody>
          <a:bodyPr wrap="square" rtlCol="0" anchor="ctr"/>
          <a:lstStyle/>
          <a:p>
            <a:pPr marL="0" indent="0">
              <a:buNone/>
            </a:pPr>
            <a:r>
              <a:rPr lang="en-US" sz="8800" b="1" dirty="0">
                <a:solidFill>
                  <a:srgbClr val="FFFFFF"/>
                </a:solidFill>
                <a:latin typeface="Cambria" pitchFamily="34" charset="0"/>
                <a:ea typeface="Cambria" pitchFamily="34" charset="-122"/>
                <a:cs typeface="Cambria" pitchFamily="34" charset="-120"/>
              </a:rPr>
              <a:t>eVDP</a:t>
            </a:r>
            <a:endParaRPr lang="en-US" sz="8800" dirty="0"/>
          </a:p>
        </p:txBody>
      </p:sp>
      <p:sp>
        <p:nvSpPr>
          <p:cNvPr id="9" name="Text 7"/>
          <p:cNvSpPr/>
          <p:nvPr/>
        </p:nvSpPr>
        <p:spPr>
          <a:xfrm>
            <a:off x="731520" y="3703320"/>
            <a:ext cx="7589520" cy="914400"/>
          </a:xfrm>
          <a:prstGeom prst="rect">
            <a:avLst/>
          </a:prstGeom>
          <a:noFill/>
          <a:ln/>
        </p:spPr>
        <p:txBody>
          <a:bodyPr wrap="square" rtlCol="0" anchor="ctr"/>
          <a:lstStyle/>
          <a:p>
            <a:pPr marL="0" indent="0">
              <a:lnSpc>
                <a:spcPts val="2700"/>
              </a:lnSpc>
              <a:buNone/>
            </a:pPr>
            <a:r>
              <a:rPr lang="en-US" sz="2000" dirty="0">
                <a:solidFill>
                  <a:srgbClr val="C8D4E0"/>
                </a:solidFill>
                <a:latin typeface="Calibri" pitchFamily="34" charset="0"/>
                <a:ea typeface="Calibri" pitchFamily="34" charset="-122"/>
                <a:cs typeface="Calibri" pitchFamily="34" charset="-120"/>
              </a:rPr>
              <a:t>Plateforme nationale de divulgation coordonnée</a:t>
            </a:r>
            <a:endParaRPr lang="en-US" sz="2000" dirty="0"/>
          </a:p>
          <a:p>
            <a:pPr marL="0" indent="0">
              <a:lnSpc>
                <a:spcPts val="2700"/>
              </a:lnSpc>
              <a:buNone/>
            </a:pPr>
            <a:r>
              <a:rPr lang="en-US" sz="2000" dirty="0">
                <a:solidFill>
                  <a:srgbClr val="C8D4E0"/>
                </a:solidFill>
                <a:latin typeface="Calibri" pitchFamily="34" charset="0"/>
                <a:ea typeface="Calibri" pitchFamily="34" charset="-122"/>
                <a:cs typeface="Calibri" pitchFamily="34" charset="-120"/>
              </a:rPr>
              <a:t>de vulnérabilités et de Bug Bounty</a:t>
            </a:r>
            <a:endParaRPr lang="en-US" sz="2000" dirty="0"/>
          </a:p>
        </p:txBody>
      </p:sp>
      <p:sp>
        <p:nvSpPr>
          <p:cNvPr id="10" name="Shape 8"/>
          <p:cNvSpPr/>
          <p:nvPr/>
        </p:nvSpPr>
        <p:spPr>
          <a:xfrm>
            <a:off x="731520" y="4709160"/>
            <a:ext cx="1280160" cy="0"/>
          </a:xfrm>
          <a:prstGeom prst="line">
            <a:avLst/>
          </a:prstGeom>
          <a:noFill/>
          <a:ln w="38100">
            <a:solidFill>
              <a:srgbClr val="C49428"/>
            </a:solidFill>
            <a:prstDash val="solid"/>
          </a:ln>
        </p:spPr>
      </p:sp>
      <p:sp>
        <p:nvSpPr>
          <p:cNvPr id="11" name="Text 9"/>
          <p:cNvSpPr/>
          <p:nvPr/>
        </p:nvSpPr>
        <p:spPr>
          <a:xfrm>
            <a:off x="731520" y="4892040"/>
            <a:ext cx="7315200" cy="457200"/>
          </a:xfrm>
          <a:prstGeom prst="rect">
            <a:avLst/>
          </a:prstGeom>
          <a:noFill/>
          <a:ln/>
        </p:spPr>
        <p:txBody>
          <a:bodyPr wrap="square"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Fonctionnement de la plateforme — </a:t>
            </a:r>
            <a:r>
              <a:rPr lang="en-US" sz="1600" i="1" dirty="0" err="1">
                <a:solidFill>
                  <a:srgbClr val="FFFFFF"/>
                </a:solidFill>
                <a:latin typeface="Calibri" pitchFamily="34" charset="0"/>
                <a:ea typeface="Calibri" pitchFamily="34" charset="-122"/>
                <a:cs typeface="Calibri" pitchFamily="34" charset="-120"/>
              </a:rPr>
              <a:t>présentation</a:t>
            </a:r>
            <a:endParaRPr lang="en-US" sz="1600" dirty="0"/>
          </a:p>
        </p:txBody>
      </p:sp>
      <p:sp>
        <p:nvSpPr>
          <p:cNvPr id="12" name="Text 10"/>
          <p:cNvSpPr/>
          <p:nvPr/>
        </p:nvSpPr>
        <p:spPr>
          <a:xfrm>
            <a:off x="731520" y="6126480"/>
            <a:ext cx="5486400" cy="365760"/>
          </a:xfrm>
          <a:prstGeom prst="rect">
            <a:avLst/>
          </a:prstGeom>
          <a:noFill/>
          <a:ln/>
        </p:spPr>
        <p:txBody>
          <a:bodyPr wrap="square" rtlCol="0" anchor="ctr"/>
          <a:lstStyle/>
          <a:p>
            <a:pPr marL="0" indent="0">
              <a:buNone/>
            </a:pPr>
            <a:r>
              <a:rPr lang="en-US" sz="1300" dirty="0">
                <a:solidFill>
                  <a:srgbClr val="8FA0B5"/>
                </a:solidFill>
                <a:latin typeface="Calibri" pitchFamily="34" charset="0"/>
                <a:ea typeface="Calibri" pitchFamily="34" charset="-122"/>
                <a:cs typeface="Calibri" pitchFamily="34" charset="-120"/>
              </a:rPr>
              <a:t>Compétition ÉLITE IT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CONTEXTE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Un canal officiel manquait au Burkina Faso</a:t>
            </a:r>
            <a:endParaRPr lang="en-US" sz="3200" dirty="0"/>
          </a:p>
        </p:txBody>
      </p:sp>
      <p:sp>
        <p:nvSpPr>
          <p:cNvPr id="4" name="Text 2"/>
          <p:cNvSpPr/>
          <p:nvPr/>
        </p:nvSpPr>
        <p:spPr>
          <a:xfrm>
            <a:off x="640080" y="1600200"/>
            <a:ext cx="5486400" cy="1645920"/>
          </a:xfrm>
          <a:prstGeom prst="rect">
            <a:avLst/>
          </a:prstGeom>
          <a:noFill/>
          <a:ln/>
        </p:spPr>
        <p:txBody>
          <a:bodyPr wrap="square" rtlCol="0" anchor="ctr"/>
          <a:lstStyle/>
          <a:p>
            <a:pPr marL="0" indent="0">
              <a:lnSpc>
                <a:spcPts val="2400"/>
              </a:lnSpc>
              <a:buNone/>
            </a:pPr>
            <a:r>
              <a:rPr lang="en-US" sz="1500" dirty="0">
                <a:solidFill>
                  <a:srgbClr val="3B4450"/>
                </a:solidFill>
                <a:latin typeface="Calibri" pitchFamily="34" charset="0"/>
                <a:ea typeface="Calibri" pitchFamily="34" charset="-122"/>
                <a:cs typeface="Calibri" pitchFamily="34" charset="-120"/>
              </a:rPr>
              <a:t>Aujourd'hui, un chercheur qui découvre une faille sur un service public ne sait souvent ni à qui l'annoncer, ni comment le faire sans risque juridique. Les organisations, de leur côté, n'ont pas de canal structuré pour recevoir ce type de signalement.</a:t>
            </a:r>
            <a:endParaRPr lang="en-US" sz="1500" dirty="0"/>
          </a:p>
        </p:txBody>
      </p:sp>
      <p:sp>
        <p:nvSpPr>
          <p:cNvPr id="5" name="Text 3"/>
          <p:cNvSpPr/>
          <p:nvPr/>
        </p:nvSpPr>
        <p:spPr>
          <a:xfrm>
            <a:off x="640080" y="3429000"/>
            <a:ext cx="1645920" cy="777240"/>
          </a:xfrm>
          <a:prstGeom prst="rect">
            <a:avLst/>
          </a:prstGeom>
          <a:noFill/>
          <a:ln/>
        </p:spPr>
        <p:txBody>
          <a:bodyPr wrap="square" rtlCol="0" anchor="ctr"/>
          <a:lstStyle/>
          <a:p>
            <a:pPr marL="0" indent="0">
              <a:buNone/>
            </a:pPr>
            <a:r>
              <a:rPr lang="en-US" sz="4000" b="1" dirty="0">
                <a:solidFill>
                  <a:srgbClr val="B03A3A"/>
                </a:solidFill>
                <a:latin typeface="Cambria" pitchFamily="34" charset="0"/>
                <a:ea typeface="Cambria" pitchFamily="34" charset="-122"/>
                <a:cs typeface="Cambria" pitchFamily="34" charset="-120"/>
              </a:rPr>
              <a:t>0</a:t>
            </a:r>
            <a:endParaRPr lang="en-US" sz="4000" dirty="0"/>
          </a:p>
        </p:txBody>
      </p:sp>
      <p:sp>
        <p:nvSpPr>
          <p:cNvPr id="6" name="Text 4"/>
          <p:cNvSpPr/>
          <p:nvPr/>
        </p:nvSpPr>
        <p:spPr>
          <a:xfrm>
            <a:off x="2331720" y="3502152"/>
            <a:ext cx="3749040" cy="685800"/>
          </a:xfrm>
          <a:prstGeom prst="rect">
            <a:avLst/>
          </a:prstGeom>
          <a:noFill/>
          <a:ln/>
        </p:spPr>
        <p:txBody>
          <a:bodyPr wrap="square" rtlCol="0" anchor="ctr"/>
          <a:lstStyle/>
          <a:p>
            <a:pPr marL="0" indent="0">
              <a:buNone/>
            </a:pPr>
            <a:r>
              <a:rPr lang="en-US" sz="1250" dirty="0">
                <a:solidFill>
                  <a:srgbClr val="6E7884"/>
                </a:solidFill>
                <a:latin typeface="Calibri" pitchFamily="34" charset="0"/>
                <a:ea typeface="Calibri" pitchFamily="34" charset="-122"/>
                <a:cs typeface="Calibri" pitchFamily="34" charset="-120"/>
              </a:rPr>
              <a:t>canal national officiel avant eVDP</a:t>
            </a:r>
            <a:endParaRPr lang="en-US" sz="1250" dirty="0"/>
          </a:p>
        </p:txBody>
      </p:sp>
      <p:sp>
        <p:nvSpPr>
          <p:cNvPr id="7" name="Text 5"/>
          <p:cNvSpPr/>
          <p:nvPr/>
        </p:nvSpPr>
        <p:spPr>
          <a:xfrm>
            <a:off x="640080" y="4343400"/>
            <a:ext cx="1645920" cy="777240"/>
          </a:xfrm>
          <a:prstGeom prst="rect">
            <a:avLst/>
          </a:prstGeom>
          <a:noFill/>
          <a:ln/>
        </p:spPr>
        <p:txBody>
          <a:bodyPr wrap="square" rtlCol="0" anchor="ctr"/>
          <a:lstStyle/>
          <a:p>
            <a:pPr marL="0" indent="0">
              <a:buNone/>
            </a:pPr>
            <a:r>
              <a:rPr lang="en-US" sz="4000" b="1" dirty="0">
                <a:solidFill>
                  <a:srgbClr val="0D7A5F"/>
                </a:solidFill>
                <a:latin typeface="Cambria" pitchFamily="34" charset="0"/>
                <a:ea typeface="Cambria" pitchFamily="34" charset="-122"/>
                <a:cs typeface="Cambria" pitchFamily="34" charset="-120"/>
              </a:rPr>
              <a:t>72h</a:t>
            </a:r>
            <a:endParaRPr lang="en-US" sz="4000" dirty="0"/>
          </a:p>
        </p:txBody>
      </p:sp>
      <p:sp>
        <p:nvSpPr>
          <p:cNvPr id="8" name="Text 6"/>
          <p:cNvSpPr/>
          <p:nvPr/>
        </p:nvSpPr>
        <p:spPr>
          <a:xfrm>
            <a:off x="2331720" y="4416552"/>
            <a:ext cx="3749040" cy="685800"/>
          </a:xfrm>
          <a:prstGeom prst="rect">
            <a:avLst/>
          </a:prstGeom>
          <a:noFill/>
          <a:ln/>
        </p:spPr>
        <p:txBody>
          <a:bodyPr wrap="square" rtlCol="0" anchor="ctr"/>
          <a:lstStyle/>
          <a:p>
            <a:pPr marL="0" indent="0">
              <a:buNone/>
            </a:pPr>
            <a:r>
              <a:rPr lang="en-US" sz="1250" dirty="0">
                <a:solidFill>
                  <a:srgbClr val="6E7884"/>
                </a:solidFill>
                <a:latin typeface="Calibri" pitchFamily="34" charset="0"/>
                <a:ea typeface="Calibri" pitchFamily="34" charset="-122"/>
                <a:cs typeface="Calibri" pitchFamily="34" charset="-120"/>
              </a:rPr>
              <a:t>délai d'accusé de réception une fois eVDP en place</a:t>
            </a:r>
            <a:endParaRPr lang="en-US" sz="1250" dirty="0"/>
          </a:p>
        </p:txBody>
      </p:sp>
      <p:sp>
        <p:nvSpPr>
          <p:cNvPr id="9" name="Text 7"/>
          <p:cNvSpPr/>
          <p:nvPr/>
        </p:nvSpPr>
        <p:spPr>
          <a:xfrm>
            <a:off x="640080" y="5257800"/>
            <a:ext cx="1645920" cy="777240"/>
          </a:xfrm>
          <a:prstGeom prst="rect">
            <a:avLst/>
          </a:prstGeom>
          <a:noFill/>
          <a:ln/>
        </p:spPr>
        <p:txBody>
          <a:bodyPr wrap="square" rtlCol="0" anchor="ctr"/>
          <a:lstStyle/>
          <a:p>
            <a:pPr marL="0" indent="0">
              <a:buNone/>
            </a:pPr>
            <a:r>
              <a:rPr lang="en-US" sz="4000" b="1" dirty="0">
                <a:solidFill>
                  <a:srgbClr val="C49428"/>
                </a:solidFill>
                <a:latin typeface="Cambria" pitchFamily="34" charset="0"/>
                <a:ea typeface="Cambria" pitchFamily="34" charset="-122"/>
                <a:cs typeface="Cambria" pitchFamily="34" charset="-120"/>
              </a:rPr>
              <a:t>90j</a:t>
            </a:r>
            <a:endParaRPr lang="en-US" sz="4000" dirty="0"/>
          </a:p>
        </p:txBody>
      </p:sp>
      <p:sp>
        <p:nvSpPr>
          <p:cNvPr id="10" name="Text 8"/>
          <p:cNvSpPr/>
          <p:nvPr/>
        </p:nvSpPr>
        <p:spPr>
          <a:xfrm>
            <a:off x="2331720" y="5330952"/>
            <a:ext cx="3749040" cy="685800"/>
          </a:xfrm>
          <a:prstGeom prst="rect">
            <a:avLst/>
          </a:prstGeom>
          <a:noFill/>
          <a:ln/>
        </p:spPr>
        <p:txBody>
          <a:bodyPr wrap="square" rtlCol="0" anchor="ctr"/>
          <a:lstStyle/>
          <a:p>
            <a:pPr marL="0" indent="0">
              <a:buNone/>
            </a:pPr>
            <a:r>
              <a:rPr lang="en-US" sz="1250" dirty="0">
                <a:solidFill>
                  <a:srgbClr val="6E7884"/>
                </a:solidFill>
                <a:latin typeface="Calibri" pitchFamily="34" charset="0"/>
                <a:ea typeface="Calibri" pitchFamily="34" charset="-122"/>
                <a:cs typeface="Calibri" pitchFamily="34" charset="-120"/>
              </a:rPr>
              <a:t>délai de divulgation coordonnée par défaut</a:t>
            </a:r>
            <a:endParaRPr lang="en-US" sz="1250" dirty="0"/>
          </a:p>
        </p:txBody>
      </p:sp>
      <p:sp>
        <p:nvSpPr>
          <p:cNvPr id="11" name="Shape 9"/>
          <p:cNvSpPr/>
          <p:nvPr/>
        </p:nvSpPr>
        <p:spPr>
          <a:xfrm>
            <a:off x="6675120" y="1463040"/>
            <a:ext cx="4892040" cy="4754880"/>
          </a:xfrm>
          <a:prstGeom prst="roundRect">
            <a:avLst>
              <a:gd name="adj" fmla="val 1731"/>
            </a:avLst>
          </a:prstGeom>
          <a:solidFill>
            <a:srgbClr val="0D213B"/>
          </a:solidFill>
          <a:ln w="12700">
            <a:solidFill>
              <a:srgbClr val="DFE3E8"/>
            </a:solidFill>
            <a:prstDash val="solid"/>
          </a:ln>
        </p:spPr>
      </p:sp>
      <p:sp>
        <p:nvSpPr>
          <p:cNvPr id="12" name="Text 10"/>
          <p:cNvSpPr/>
          <p:nvPr/>
        </p:nvSpPr>
        <p:spPr>
          <a:xfrm>
            <a:off x="7086600" y="1783080"/>
            <a:ext cx="4114800" cy="45720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Ce qu'eVDP apporte</a:t>
            </a:r>
            <a:endParaRPr lang="en-US" sz="1900" dirty="0"/>
          </a:p>
        </p:txBody>
      </p:sp>
      <p:sp>
        <p:nvSpPr>
          <p:cNvPr id="13" name="Shape 11"/>
          <p:cNvSpPr/>
          <p:nvPr/>
        </p:nvSpPr>
        <p:spPr>
          <a:xfrm>
            <a:off x="7086600" y="2423160"/>
            <a:ext cx="292608" cy="292608"/>
          </a:xfrm>
          <a:prstGeom prst="ellipse">
            <a:avLst/>
          </a:prstGeom>
          <a:solidFill>
            <a:srgbClr val="0D7A5F"/>
          </a:solidFill>
          <a:ln/>
        </p:spPr>
      </p:sp>
      <p:sp>
        <p:nvSpPr>
          <p:cNvPr id="14" name="Text 12"/>
          <p:cNvSpPr/>
          <p:nvPr/>
        </p:nvSpPr>
        <p:spPr>
          <a:xfrm>
            <a:off x="7086600" y="2404872"/>
            <a:ext cx="292608" cy="292608"/>
          </a:xfrm>
          <a:prstGeom prst="rect">
            <a:avLst/>
          </a:prstGeom>
          <a:noFill/>
          <a:ln/>
        </p:spPr>
        <p:txBody>
          <a:bodyPr wrap="square" rtlCol="0" anchor="ctr"/>
          <a:lstStyle/>
          <a:p>
            <a:pPr marL="0" indent="0" algn="ctr">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15" name="Text 13"/>
          <p:cNvSpPr/>
          <p:nvPr/>
        </p:nvSpPr>
        <p:spPr>
          <a:xfrm>
            <a:off x="7543800" y="2368296"/>
            <a:ext cx="3840480" cy="640080"/>
          </a:xfrm>
          <a:prstGeom prst="rect">
            <a:avLst/>
          </a:prstGeom>
          <a:noFill/>
          <a:ln/>
        </p:spPr>
        <p:txBody>
          <a:bodyPr wrap="square" rtlCol="0" anchor="ctr"/>
          <a:lstStyle/>
          <a:p>
            <a:pPr marL="0" indent="0">
              <a:lnSpc>
                <a:spcPts val="1700"/>
              </a:lnSpc>
              <a:buNone/>
            </a:pPr>
            <a:r>
              <a:rPr lang="en-US" sz="1300" dirty="0">
                <a:solidFill>
                  <a:srgbClr val="E7ECF1"/>
                </a:solidFill>
                <a:latin typeface="Calibri" pitchFamily="34" charset="0"/>
                <a:ea typeface="Calibri" pitchFamily="34" charset="-122"/>
                <a:cs typeface="Calibri" pitchFamily="34" charset="-120"/>
              </a:rPr>
              <a:t>Un point d'entrée unique, sécurisé et juridiquement encadré</a:t>
            </a:r>
            <a:endParaRPr lang="en-US" sz="1300" dirty="0"/>
          </a:p>
        </p:txBody>
      </p:sp>
      <p:sp>
        <p:nvSpPr>
          <p:cNvPr id="16" name="Shape 14"/>
          <p:cNvSpPr/>
          <p:nvPr/>
        </p:nvSpPr>
        <p:spPr>
          <a:xfrm>
            <a:off x="7086600" y="3200400"/>
            <a:ext cx="292608" cy="292608"/>
          </a:xfrm>
          <a:prstGeom prst="ellipse">
            <a:avLst/>
          </a:prstGeom>
          <a:solidFill>
            <a:srgbClr val="0D7A5F"/>
          </a:solidFill>
          <a:ln/>
        </p:spPr>
      </p:sp>
      <p:sp>
        <p:nvSpPr>
          <p:cNvPr id="17" name="Text 15"/>
          <p:cNvSpPr/>
          <p:nvPr/>
        </p:nvSpPr>
        <p:spPr>
          <a:xfrm>
            <a:off x="7086600" y="3182112"/>
            <a:ext cx="292608" cy="292608"/>
          </a:xfrm>
          <a:prstGeom prst="rect">
            <a:avLst/>
          </a:prstGeom>
          <a:noFill/>
          <a:ln/>
        </p:spPr>
        <p:txBody>
          <a:bodyPr wrap="square" rtlCol="0" anchor="ctr"/>
          <a:lstStyle/>
          <a:p>
            <a:pPr marL="0" indent="0" algn="ctr">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18" name="Text 16"/>
          <p:cNvSpPr/>
          <p:nvPr/>
        </p:nvSpPr>
        <p:spPr>
          <a:xfrm>
            <a:off x="7543800" y="3145536"/>
            <a:ext cx="3840480" cy="640080"/>
          </a:xfrm>
          <a:prstGeom prst="rect">
            <a:avLst/>
          </a:prstGeom>
          <a:noFill/>
          <a:ln/>
        </p:spPr>
        <p:txBody>
          <a:bodyPr wrap="square" rtlCol="0" anchor="ctr"/>
          <a:lstStyle/>
          <a:p>
            <a:pPr marL="0" indent="0">
              <a:lnSpc>
                <a:spcPts val="1700"/>
              </a:lnSpc>
              <a:buNone/>
            </a:pPr>
            <a:r>
              <a:rPr lang="en-US" sz="1300" dirty="0">
                <a:solidFill>
                  <a:srgbClr val="E7ECF1"/>
                </a:solidFill>
                <a:latin typeface="Calibri" pitchFamily="34" charset="0"/>
                <a:ea typeface="Calibri" pitchFamily="34" charset="-122"/>
                <a:cs typeface="Calibri" pitchFamily="34" charset="-120"/>
              </a:rPr>
              <a:t>Un traitement tracé de bout en bout, avec responsabilités séparées</a:t>
            </a:r>
            <a:endParaRPr lang="en-US" sz="1300" dirty="0"/>
          </a:p>
        </p:txBody>
      </p:sp>
      <p:sp>
        <p:nvSpPr>
          <p:cNvPr id="19" name="Shape 17"/>
          <p:cNvSpPr/>
          <p:nvPr/>
        </p:nvSpPr>
        <p:spPr>
          <a:xfrm>
            <a:off x="7086600" y="3977640"/>
            <a:ext cx="292608" cy="292608"/>
          </a:xfrm>
          <a:prstGeom prst="ellipse">
            <a:avLst/>
          </a:prstGeom>
          <a:solidFill>
            <a:srgbClr val="0D7A5F"/>
          </a:solidFill>
          <a:ln/>
        </p:spPr>
      </p:sp>
      <p:sp>
        <p:nvSpPr>
          <p:cNvPr id="20" name="Text 18"/>
          <p:cNvSpPr/>
          <p:nvPr/>
        </p:nvSpPr>
        <p:spPr>
          <a:xfrm>
            <a:off x="7086600" y="3959352"/>
            <a:ext cx="292608" cy="292608"/>
          </a:xfrm>
          <a:prstGeom prst="rect">
            <a:avLst/>
          </a:prstGeom>
          <a:noFill/>
          <a:ln/>
        </p:spPr>
        <p:txBody>
          <a:bodyPr wrap="square" rtlCol="0" anchor="ctr"/>
          <a:lstStyle/>
          <a:p>
            <a:pPr marL="0" indent="0" algn="ctr">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21" name="Text 19"/>
          <p:cNvSpPr/>
          <p:nvPr/>
        </p:nvSpPr>
        <p:spPr>
          <a:xfrm>
            <a:off x="7543800" y="3922776"/>
            <a:ext cx="3840480" cy="640080"/>
          </a:xfrm>
          <a:prstGeom prst="rect">
            <a:avLst/>
          </a:prstGeom>
          <a:noFill/>
          <a:ln/>
        </p:spPr>
        <p:txBody>
          <a:bodyPr wrap="square" rtlCol="0" anchor="ctr"/>
          <a:lstStyle/>
          <a:p>
            <a:pPr marL="0" indent="0">
              <a:lnSpc>
                <a:spcPts val="1700"/>
              </a:lnSpc>
              <a:buNone/>
            </a:pPr>
            <a:r>
              <a:rPr lang="en-US" sz="1300" dirty="0">
                <a:solidFill>
                  <a:srgbClr val="E7ECF1"/>
                </a:solidFill>
                <a:latin typeface="Calibri" pitchFamily="34" charset="0"/>
                <a:ea typeface="Calibri" pitchFamily="34" charset="-122"/>
                <a:cs typeface="Calibri" pitchFamily="34" charset="-120"/>
              </a:rPr>
              <a:t>Une protection légale (safe harbor) pour le chercheur de bonne foi</a:t>
            </a:r>
            <a:endParaRPr lang="en-US" sz="1300" dirty="0"/>
          </a:p>
        </p:txBody>
      </p:sp>
      <p:sp>
        <p:nvSpPr>
          <p:cNvPr id="22" name="Shape 20"/>
          <p:cNvSpPr/>
          <p:nvPr/>
        </p:nvSpPr>
        <p:spPr>
          <a:xfrm>
            <a:off x="7086600" y="4754880"/>
            <a:ext cx="292608" cy="292608"/>
          </a:xfrm>
          <a:prstGeom prst="ellipse">
            <a:avLst/>
          </a:prstGeom>
          <a:solidFill>
            <a:srgbClr val="0D7A5F"/>
          </a:solidFill>
          <a:ln/>
        </p:spPr>
      </p:sp>
      <p:sp>
        <p:nvSpPr>
          <p:cNvPr id="23" name="Text 21"/>
          <p:cNvSpPr/>
          <p:nvPr/>
        </p:nvSpPr>
        <p:spPr>
          <a:xfrm>
            <a:off x="7086600" y="4736592"/>
            <a:ext cx="292608" cy="292608"/>
          </a:xfrm>
          <a:prstGeom prst="rect">
            <a:avLst/>
          </a:prstGeom>
          <a:noFill/>
          <a:ln/>
        </p:spPr>
        <p:txBody>
          <a:bodyPr wrap="square" rtlCol="0" anchor="ctr"/>
          <a:lstStyle/>
          <a:p>
            <a:pPr marL="0" indent="0" algn="ctr">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24" name="Text 22"/>
          <p:cNvSpPr/>
          <p:nvPr/>
        </p:nvSpPr>
        <p:spPr>
          <a:xfrm>
            <a:off x="7543800" y="4700016"/>
            <a:ext cx="3840480" cy="640080"/>
          </a:xfrm>
          <a:prstGeom prst="rect">
            <a:avLst/>
          </a:prstGeom>
          <a:noFill/>
          <a:ln/>
        </p:spPr>
        <p:txBody>
          <a:bodyPr wrap="square" rtlCol="0" anchor="ctr"/>
          <a:lstStyle/>
          <a:p>
            <a:pPr marL="0" indent="0">
              <a:lnSpc>
                <a:spcPts val="1700"/>
              </a:lnSpc>
              <a:buNone/>
            </a:pPr>
            <a:r>
              <a:rPr lang="en-US" sz="1300" dirty="0">
                <a:solidFill>
                  <a:srgbClr val="E7ECF1"/>
                </a:solidFill>
                <a:latin typeface="Calibri" pitchFamily="34" charset="0"/>
                <a:ea typeface="Calibri" pitchFamily="34" charset="-122"/>
                <a:cs typeface="Calibri" pitchFamily="34" charset="-120"/>
              </a:rPr>
              <a:t>Un volet Bug Bounty optionnel, avec récompense, sur le même moteur</a:t>
            </a:r>
            <a:endParaRPr lang="en-US" sz="1300" dirty="0"/>
          </a:p>
        </p:txBody>
      </p:sp>
      <p:sp>
        <p:nvSpPr>
          <p:cNvPr id="25" name="Text 23"/>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VUE D'ENSEMBLE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Deux dispositifs, un seul moteur de traitement</a:t>
            </a:r>
            <a:endParaRPr lang="en-US" sz="3200" dirty="0"/>
          </a:p>
        </p:txBody>
      </p:sp>
      <p:sp>
        <p:nvSpPr>
          <p:cNvPr id="4" name="Text 2"/>
          <p:cNvSpPr/>
          <p:nvPr/>
        </p:nvSpPr>
        <p:spPr>
          <a:xfrm>
            <a:off x="640080" y="1554480"/>
            <a:ext cx="10881360" cy="685800"/>
          </a:xfrm>
          <a:prstGeom prst="rect">
            <a:avLst/>
          </a:prstGeom>
          <a:noFill/>
          <a:ln/>
        </p:spPr>
        <p:txBody>
          <a:bodyPr wrap="square" rtlCol="0" anchor="ctr"/>
          <a:lstStyle/>
          <a:p>
            <a:pPr marL="0" indent="0">
              <a:lnSpc>
                <a:spcPts val="2000"/>
              </a:lnSpc>
              <a:buNone/>
            </a:pPr>
            <a:r>
              <a:rPr lang="en-US" sz="1450" dirty="0">
                <a:solidFill>
                  <a:srgbClr val="3B4450"/>
                </a:solidFill>
                <a:latin typeface="Calibri" pitchFamily="34" charset="0"/>
                <a:ea typeface="Calibri" pitchFamily="34" charset="-122"/>
                <a:cs typeface="Calibri" pitchFamily="34" charset="-120"/>
              </a:rPr>
              <a:t>Un signalement classique (VDP) et une soumission à un programme Bug Bounty partagent exactement le même modèle de dossier et la même machine à états. Seul le volet récompense est spécifique au Bug Bounty.</a:t>
            </a:r>
            <a:endParaRPr lang="en-US" sz="1450" dirty="0"/>
          </a:p>
        </p:txBody>
      </p:sp>
      <p:sp>
        <p:nvSpPr>
          <p:cNvPr id="5" name="Shape 3"/>
          <p:cNvSpPr/>
          <p:nvPr/>
        </p:nvSpPr>
        <p:spPr>
          <a:xfrm>
            <a:off x="640080" y="2514600"/>
            <a:ext cx="5257800" cy="3566160"/>
          </a:xfrm>
          <a:prstGeom prst="roundRect">
            <a:avLst>
              <a:gd name="adj" fmla="val 2308"/>
            </a:avLst>
          </a:prstGeom>
          <a:solidFill>
            <a:srgbClr val="DBF2EA"/>
          </a:solidFill>
          <a:ln w="12700">
            <a:solidFill>
              <a:srgbClr val="0D7A5F"/>
            </a:solidFill>
            <a:prstDash val="solid"/>
          </a:ln>
        </p:spPr>
      </p:sp>
      <p:sp>
        <p:nvSpPr>
          <p:cNvPr id="6" name="Shape 4"/>
          <p:cNvSpPr/>
          <p:nvPr/>
        </p:nvSpPr>
        <p:spPr>
          <a:xfrm>
            <a:off x="640080" y="2514600"/>
            <a:ext cx="5257800" cy="685800"/>
          </a:xfrm>
          <a:prstGeom prst="roundRect">
            <a:avLst>
              <a:gd name="adj" fmla="val 12000"/>
            </a:avLst>
          </a:prstGeom>
          <a:solidFill>
            <a:srgbClr val="0D7A5F"/>
          </a:solidFill>
          <a:ln/>
        </p:spPr>
      </p:sp>
      <p:sp>
        <p:nvSpPr>
          <p:cNvPr id="7" name="Text 5"/>
          <p:cNvSpPr/>
          <p:nvPr/>
        </p:nvSpPr>
        <p:spPr>
          <a:xfrm>
            <a:off x="914400" y="2514600"/>
            <a:ext cx="4709160" cy="6858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VDP — Divulgation coordonnée</a:t>
            </a:r>
            <a:endParaRPr lang="en-US" sz="1700" dirty="0"/>
          </a:p>
        </p:txBody>
      </p:sp>
      <p:sp>
        <p:nvSpPr>
          <p:cNvPr id="8" name="Text 6"/>
          <p:cNvSpPr/>
          <p:nvPr/>
        </p:nvSpPr>
        <p:spPr>
          <a:xfrm>
            <a:off x="914400" y="3429000"/>
            <a:ext cx="4709160" cy="548640"/>
          </a:xfrm>
          <a:prstGeom prst="rect">
            <a:avLst/>
          </a:prstGeom>
          <a:noFill/>
          <a:ln/>
        </p:spPr>
        <p:txBody>
          <a:bodyPr wrap="square" rtlCol="0" anchor="ctr"/>
          <a:lstStyle/>
          <a:p>
            <a:pPr marL="0" indent="0">
              <a:lnSpc>
                <a:spcPts val="1700"/>
              </a:lnSpc>
              <a:buNone/>
            </a:pPr>
            <a:r>
              <a:rPr lang="en-US" sz="1300" dirty="0">
                <a:solidFill>
                  <a:srgbClr val="0D213B"/>
                </a:solidFill>
                <a:latin typeface="Calibri" pitchFamily="34" charset="0"/>
                <a:ea typeface="Calibri" pitchFamily="34" charset="-122"/>
                <a:cs typeface="Calibri" pitchFamily="34" charset="-120"/>
              </a:rPr>
              <a:t>—  Ouvert à tous, y compris de façon anonyme</a:t>
            </a:r>
            <a:endParaRPr lang="en-US" sz="1300" dirty="0"/>
          </a:p>
        </p:txBody>
      </p:sp>
      <p:sp>
        <p:nvSpPr>
          <p:cNvPr id="9" name="Text 7"/>
          <p:cNvSpPr/>
          <p:nvPr/>
        </p:nvSpPr>
        <p:spPr>
          <a:xfrm>
            <a:off x="914400" y="4087368"/>
            <a:ext cx="4709160" cy="548640"/>
          </a:xfrm>
          <a:prstGeom prst="rect">
            <a:avLst/>
          </a:prstGeom>
          <a:noFill/>
          <a:ln/>
        </p:spPr>
        <p:txBody>
          <a:bodyPr wrap="square" rtlCol="0" anchor="ctr"/>
          <a:lstStyle/>
          <a:p>
            <a:pPr marL="0" indent="0">
              <a:lnSpc>
                <a:spcPts val="1700"/>
              </a:lnSpc>
              <a:buNone/>
            </a:pPr>
            <a:r>
              <a:rPr lang="en-US" sz="1300" dirty="0">
                <a:solidFill>
                  <a:srgbClr val="0D213B"/>
                </a:solidFill>
                <a:latin typeface="Calibri" pitchFamily="34" charset="0"/>
                <a:ea typeface="Calibri" pitchFamily="34" charset="-122"/>
                <a:cs typeface="Calibri" pitchFamily="34" charset="-120"/>
              </a:rPr>
              <a:t>—  Aucune contrepartie financière</a:t>
            </a:r>
            <a:endParaRPr lang="en-US" sz="1300" dirty="0"/>
          </a:p>
        </p:txBody>
      </p:sp>
      <p:sp>
        <p:nvSpPr>
          <p:cNvPr id="10" name="Text 8"/>
          <p:cNvSpPr/>
          <p:nvPr/>
        </p:nvSpPr>
        <p:spPr>
          <a:xfrm>
            <a:off x="914400" y="4745736"/>
            <a:ext cx="4709160" cy="548640"/>
          </a:xfrm>
          <a:prstGeom prst="rect">
            <a:avLst/>
          </a:prstGeom>
          <a:noFill/>
          <a:ln/>
        </p:spPr>
        <p:txBody>
          <a:bodyPr wrap="square" rtlCol="0" anchor="ctr"/>
          <a:lstStyle/>
          <a:p>
            <a:pPr marL="0" indent="0">
              <a:lnSpc>
                <a:spcPts val="1700"/>
              </a:lnSpc>
              <a:buNone/>
            </a:pPr>
            <a:r>
              <a:rPr lang="en-US" sz="1300" dirty="0">
                <a:solidFill>
                  <a:srgbClr val="0D213B"/>
                </a:solidFill>
                <a:latin typeface="Calibri" pitchFamily="34" charset="0"/>
                <a:ea typeface="Calibri" pitchFamily="34" charset="-122"/>
                <a:cs typeface="Calibri" pitchFamily="34" charset="-120"/>
              </a:rPr>
              <a:t>—  Objectif : la correction et la divulgation coordonnée</a:t>
            </a:r>
            <a:endParaRPr lang="en-US" sz="1300" dirty="0"/>
          </a:p>
        </p:txBody>
      </p:sp>
      <p:sp>
        <p:nvSpPr>
          <p:cNvPr id="11" name="Text 9"/>
          <p:cNvSpPr/>
          <p:nvPr/>
        </p:nvSpPr>
        <p:spPr>
          <a:xfrm>
            <a:off x="914400" y="5404104"/>
            <a:ext cx="4709160" cy="548640"/>
          </a:xfrm>
          <a:prstGeom prst="rect">
            <a:avLst/>
          </a:prstGeom>
          <a:noFill/>
          <a:ln/>
        </p:spPr>
        <p:txBody>
          <a:bodyPr wrap="square" rtlCol="0" anchor="ctr"/>
          <a:lstStyle/>
          <a:p>
            <a:pPr marL="0" indent="0">
              <a:lnSpc>
                <a:spcPts val="1700"/>
              </a:lnSpc>
              <a:buNone/>
            </a:pPr>
            <a:r>
              <a:rPr lang="en-US" sz="1300" dirty="0">
                <a:solidFill>
                  <a:srgbClr val="0D213B"/>
                </a:solidFill>
                <a:latin typeface="Calibri" pitchFamily="34" charset="0"/>
                <a:ea typeface="Calibri" pitchFamily="34" charset="-122"/>
                <a:cs typeface="Calibri" pitchFamily="34" charset="-120"/>
              </a:rPr>
              <a:t>—  Délai de divulgation : 90 jours par défaut</a:t>
            </a:r>
            <a:endParaRPr lang="en-US" sz="1300" dirty="0"/>
          </a:p>
        </p:txBody>
      </p:sp>
      <p:sp>
        <p:nvSpPr>
          <p:cNvPr id="12" name="Shape 10"/>
          <p:cNvSpPr/>
          <p:nvPr/>
        </p:nvSpPr>
        <p:spPr>
          <a:xfrm>
            <a:off x="6309360" y="2514600"/>
            <a:ext cx="5257800" cy="3566160"/>
          </a:xfrm>
          <a:prstGeom prst="roundRect">
            <a:avLst>
              <a:gd name="adj" fmla="val 2308"/>
            </a:avLst>
          </a:prstGeom>
          <a:solidFill>
            <a:srgbClr val="FAEED6"/>
          </a:solidFill>
          <a:ln w="12700">
            <a:solidFill>
              <a:srgbClr val="C49428"/>
            </a:solidFill>
            <a:prstDash val="solid"/>
          </a:ln>
        </p:spPr>
      </p:sp>
      <p:sp>
        <p:nvSpPr>
          <p:cNvPr id="13" name="Shape 11"/>
          <p:cNvSpPr/>
          <p:nvPr/>
        </p:nvSpPr>
        <p:spPr>
          <a:xfrm>
            <a:off x="6309360" y="2514600"/>
            <a:ext cx="5257800" cy="685800"/>
          </a:xfrm>
          <a:prstGeom prst="roundRect">
            <a:avLst>
              <a:gd name="adj" fmla="val 12000"/>
            </a:avLst>
          </a:prstGeom>
          <a:solidFill>
            <a:srgbClr val="C49428"/>
          </a:solidFill>
          <a:ln/>
        </p:spPr>
      </p:sp>
      <p:sp>
        <p:nvSpPr>
          <p:cNvPr id="14" name="Text 12"/>
          <p:cNvSpPr/>
          <p:nvPr/>
        </p:nvSpPr>
        <p:spPr>
          <a:xfrm>
            <a:off x="6583680" y="2514600"/>
            <a:ext cx="4709160" cy="6858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Bug Bounty — Avec récompense</a:t>
            </a:r>
            <a:endParaRPr lang="en-US" sz="1700" dirty="0"/>
          </a:p>
        </p:txBody>
      </p:sp>
      <p:sp>
        <p:nvSpPr>
          <p:cNvPr id="15" name="Text 13"/>
          <p:cNvSpPr/>
          <p:nvPr/>
        </p:nvSpPr>
        <p:spPr>
          <a:xfrm>
            <a:off x="6583680" y="3429000"/>
            <a:ext cx="4709160" cy="548640"/>
          </a:xfrm>
          <a:prstGeom prst="rect">
            <a:avLst/>
          </a:prstGeom>
          <a:noFill/>
          <a:ln/>
        </p:spPr>
        <p:txBody>
          <a:bodyPr wrap="square" rtlCol="0" anchor="ctr"/>
          <a:lstStyle/>
          <a:p>
            <a:pPr marL="0" indent="0">
              <a:lnSpc>
                <a:spcPts val="1700"/>
              </a:lnSpc>
              <a:buNone/>
            </a:pPr>
            <a:r>
              <a:rPr lang="en-US" sz="1300" dirty="0">
                <a:solidFill>
                  <a:srgbClr val="0D213B"/>
                </a:solidFill>
                <a:latin typeface="Calibri" pitchFamily="34" charset="0"/>
                <a:ea typeface="Calibri" pitchFamily="34" charset="-122"/>
                <a:cs typeface="Calibri" pitchFamily="34" charset="-120"/>
              </a:rPr>
              <a:t>—  Compte obligatoire : email vérifié + MFA activé</a:t>
            </a:r>
            <a:endParaRPr lang="en-US" sz="1300" dirty="0"/>
          </a:p>
        </p:txBody>
      </p:sp>
      <p:sp>
        <p:nvSpPr>
          <p:cNvPr id="16" name="Text 14"/>
          <p:cNvSpPr/>
          <p:nvPr/>
        </p:nvSpPr>
        <p:spPr>
          <a:xfrm>
            <a:off x="6583680" y="4087368"/>
            <a:ext cx="4709160" cy="548640"/>
          </a:xfrm>
          <a:prstGeom prst="rect">
            <a:avLst/>
          </a:prstGeom>
          <a:noFill/>
          <a:ln/>
        </p:spPr>
        <p:txBody>
          <a:bodyPr wrap="square" rtlCol="0" anchor="ctr"/>
          <a:lstStyle/>
          <a:p>
            <a:pPr marL="0" indent="0">
              <a:lnSpc>
                <a:spcPts val="1700"/>
              </a:lnSpc>
              <a:buNone/>
            </a:pPr>
            <a:r>
              <a:rPr lang="en-US" sz="1300" dirty="0">
                <a:solidFill>
                  <a:srgbClr val="0D213B"/>
                </a:solidFill>
                <a:latin typeface="Calibri" pitchFamily="34" charset="0"/>
                <a:ea typeface="Calibri" pitchFamily="34" charset="-122"/>
                <a:cs typeface="Calibri" pitchFamily="34" charset="-120"/>
              </a:rPr>
              <a:t>—  Anonymat impossible (récompense à verser)</a:t>
            </a:r>
            <a:endParaRPr lang="en-US" sz="1300" dirty="0"/>
          </a:p>
        </p:txBody>
      </p:sp>
      <p:sp>
        <p:nvSpPr>
          <p:cNvPr id="17" name="Text 15"/>
          <p:cNvSpPr/>
          <p:nvPr/>
        </p:nvSpPr>
        <p:spPr>
          <a:xfrm>
            <a:off x="6583680" y="4745736"/>
            <a:ext cx="4709160" cy="548640"/>
          </a:xfrm>
          <a:prstGeom prst="rect">
            <a:avLst/>
          </a:prstGeom>
          <a:noFill/>
          <a:ln/>
        </p:spPr>
        <p:txBody>
          <a:bodyPr wrap="square" rtlCol="0" anchor="ctr"/>
          <a:lstStyle/>
          <a:p>
            <a:pPr marL="0" indent="0">
              <a:lnSpc>
                <a:spcPts val="1700"/>
              </a:lnSpc>
              <a:buNone/>
            </a:pPr>
            <a:r>
              <a:rPr lang="en-US" sz="1300" dirty="0">
                <a:solidFill>
                  <a:srgbClr val="0D213B"/>
                </a:solidFill>
                <a:latin typeface="Calibri" pitchFamily="34" charset="0"/>
                <a:ea typeface="Calibri" pitchFamily="34" charset="-122"/>
                <a:cs typeface="Calibri" pitchFamily="34" charset="-120"/>
              </a:rPr>
              <a:t>—  Étapes supplémentaires : sévérité, revue, approbation</a:t>
            </a:r>
            <a:endParaRPr lang="en-US" sz="1300" dirty="0"/>
          </a:p>
        </p:txBody>
      </p:sp>
      <p:sp>
        <p:nvSpPr>
          <p:cNvPr id="18" name="Text 16"/>
          <p:cNvSpPr/>
          <p:nvPr/>
        </p:nvSpPr>
        <p:spPr>
          <a:xfrm>
            <a:off x="6583680" y="5404104"/>
            <a:ext cx="4709160" cy="548640"/>
          </a:xfrm>
          <a:prstGeom prst="rect">
            <a:avLst/>
          </a:prstGeom>
          <a:noFill/>
          <a:ln/>
        </p:spPr>
        <p:txBody>
          <a:bodyPr wrap="square" rtlCol="0" anchor="ctr"/>
          <a:lstStyle/>
          <a:p>
            <a:pPr marL="0" indent="0">
              <a:lnSpc>
                <a:spcPts val="1700"/>
              </a:lnSpc>
              <a:buNone/>
            </a:pPr>
            <a:r>
              <a:rPr lang="en-US" sz="1300" dirty="0">
                <a:solidFill>
                  <a:srgbClr val="0D213B"/>
                </a:solidFill>
                <a:latin typeface="Calibri" pitchFamily="34" charset="0"/>
                <a:ea typeface="Calibri" pitchFamily="34" charset="-122"/>
                <a:cs typeface="Calibri" pitchFamily="34" charset="-120"/>
              </a:rPr>
              <a:t>—  Récompense en XOF, tracée mais non versée par le système</a:t>
            </a:r>
            <a:endParaRPr lang="en-US" sz="1300" dirty="0"/>
          </a:p>
        </p:txBody>
      </p:sp>
      <p:sp>
        <p:nvSpPr>
          <p:cNvPr id="19" name="Text 17"/>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SIGNALEMENT</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Qui peut signaler une vulnérabilité, et comment ?</a:t>
            </a:r>
            <a:endParaRPr lang="en-US" sz="3200" dirty="0"/>
          </a:p>
        </p:txBody>
      </p:sp>
      <p:sp>
        <p:nvSpPr>
          <p:cNvPr id="4" name="Shape 2"/>
          <p:cNvSpPr/>
          <p:nvPr/>
        </p:nvSpPr>
        <p:spPr>
          <a:xfrm>
            <a:off x="640080" y="1783080"/>
            <a:ext cx="3520440" cy="4023360"/>
          </a:xfrm>
          <a:prstGeom prst="roundRect">
            <a:avLst>
              <a:gd name="adj" fmla="val 2338"/>
            </a:avLst>
          </a:prstGeom>
          <a:solidFill>
            <a:srgbClr val="F6F8F9"/>
          </a:solidFill>
          <a:ln w="12700">
            <a:solidFill>
              <a:srgbClr val="DFE3E8"/>
            </a:solidFill>
            <a:prstDash val="solid"/>
          </a:ln>
          <a:effectLst>
            <a:outerShdw blurRad="127000" dist="38100" dir="5400000" algn="bl" rotWithShape="0">
              <a:srgbClr val="1B2430">
                <a:alpha val="18000"/>
              </a:srgbClr>
            </a:outerShdw>
          </a:effectLst>
        </p:spPr>
      </p:sp>
      <p:sp>
        <p:nvSpPr>
          <p:cNvPr id="5" name="Shape 3"/>
          <p:cNvSpPr/>
          <p:nvPr/>
        </p:nvSpPr>
        <p:spPr>
          <a:xfrm>
            <a:off x="960120" y="2148840"/>
            <a:ext cx="868680" cy="868680"/>
          </a:xfrm>
          <a:prstGeom prst="roundRect">
            <a:avLst>
              <a:gd name="adj" fmla="val 18947"/>
            </a:avLst>
          </a:prstGeom>
          <a:solidFill>
            <a:srgbClr val="0D213B"/>
          </a:solidFill>
          <a:ln/>
        </p:spPr>
      </p:sp>
      <p:sp>
        <p:nvSpPr>
          <p:cNvPr id="6" name="Text 4"/>
          <p:cNvSpPr/>
          <p:nvPr/>
        </p:nvSpPr>
        <p:spPr>
          <a:xfrm>
            <a:off x="960120" y="2148840"/>
            <a:ext cx="868680" cy="8686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7" name="Text 5"/>
          <p:cNvSpPr/>
          <p:nvPr/>
        </p:nvSpPr>
        <p:spPr>
          <a:xfrm>
            <a:off x="960120" y="3200400"/>
            <a:ext cx="2880360" cy="457200"/>
          </a:xfrm>
          <a:prstGeom prst="rect">
            <a:avLst/>
          </a:prstGeom>
          <a:noFill/>
          <a:ln/>
        </p:spPr>
        <p:txBody>
          <a:bodyPr wrap="square" rtlCol="0" anchor="ctr"/>
          <a:lstStyle/>
          <a:p>
            <a:pPr marL="0" indent="0">
              <a:buNone/>
            </a:pPr>
            <a:r>
              <a:rPr lang="en-US" sz="1800" b="1" dirty="0">
                <a:solidFill>
                  <a:srgbClr val="0D213B"/>
                </a:solidFill>
                <a:latin typeface="Cambria" pitchFamily="34" charset="0"/>
                <a:ea typeface="Cambria" pitchFamily="34" charset="-122"/>
                <a:cs typeface="Cambria" pitchFamily="34" charset="-120"/>
              </a:rPr>
              <a:t>Sans compte</a:t>
            </a:r>
            <a:endParaRPr lang="en-US" sz="1800" dirty="0"/>
          </a:p>
        </p:txBody>
      </p:sp>
      <p:sp>
        <p:nvSpPr>
          <p:cNvPr id="8" name="Text 6"/>
          <p:cNvSpPr/>
          <p:nvPr/>
        </p:nvSpPr>
        <p:spPr>
          <a:xfrm>
            <a:off x="960120" y="3703320"/>
            <a:ext cx="2880360" cy="1737360"/>
          </a:xfrm>
          <a:prstGeom prst="rect">
            <a:avLst/>
          </a:prstGeom>
          <a:noFill/>
          <a:ln/>
        </p:spPr>
        <p:txBody>
          <a:bodyPr wrap="square" rtlCol="0" anchor="ctr"/>
          <a:lstStyle/>
          <a:p>
            <a:pPr marL="0" indent="0">
              <a:lnSpc>
                <a:spcPts val="1800"/>
              </a:lnSpc>
              <a:buNone/>
            </a:pPr>
            <a:r>
              <a:rPr lang="en-US" sz="1300" dirty="0">
                <a:solidFill>
                  <a:srgbClr val="3B4450"/>
                </a:solidFill>
                <a:latin typeface="Calibri" pitchFamily="34" charset="0"/>
                <a:ea typeface="Calibri" pitchFamily="34" charset="-122"/>
                <a:cs typeface="Calibri" pitchFamily="34" charset="-120"/>
              </a:rPr>
              <a:t>Anonyme, un simple email de contact suffit pour recevoir un code de suivi.</a:t>
            </a:r>
            <a:endParaRPr lang="en-US" sz="1300" dirty="0"/>
          </a:p>
        </p:txBody>
      </p:sp>
      <p:sp>
        <p:nvSpPr>
          <p:cNvPr id="9" name="Shape 7"/>
          <p:cNvSpPr/>
          <p:nvPr/>
        </p:nvSpPr>
        <p:spPr>
          <a:xfrm>
            <a:off x="4480560" y="1783080"/>
            <a:ext cx="3520440" cy="4023360"/>
          </a:xfrm>
          <a:prstGeom prst="roundRect">
            <a:avLst>
              <a:gd name="adj" fmla="val 2338"/>
            </a:avLst>
          </a:prstGeom>
          <a:solidFill>
            <a:srgbClr val="F6F8F9"/>
          </a:solidFill>
          <a:ln w="12700">
            <a:solidFill>
              <a:srgbClr val="DFE3E8"/>
            </a:solidFill>
            <a:prstDash val="solid"/>
          </a:ln>
          <a:effectLst>
            <a:outerShdw blurRad="127000" dist="38100" dir="5400000" algn="bl" rotWithShape="0">
              <a:srgbClr val="1B2430">
                <a:alpha val="18000"/>
              </a:srgbClr>
            </a:outerShdw>
          </a:effectLst>
        </p:spPr>
      </p:sp>
      <p:sp>
        <p:nvSpPr>
          <p:cNvPr id="10" name="Shape 8"/>
          <p:cNvSpPr/>
          <p:nvPr/>
        </p:nvSpPr>
        <p:spPr>
          <a:xfrm>
            <a:off x="4800600" y="2148840"/>
            <a:ext cx="868680" cy="868680"/>
          </a:xfrm>
          <a:prstGeom prst="roundRect">
            <a:avLst>
              <a:gd name="adj" fmla="val 18947"/>
            </a:avLst>
          </a:prstGeom>
          <a:solidFill>
            <a:srgbClr val="0D7A5F"/>
          </a:solidFill>
          <a:ln/>
        </p:spPr>
      </p:sp>
      <p:sp>
        <p:nvSpPr>
          <p:cNvPr id="11" name="Text 9"/>
          <p:cNvSpPr/>
          <p:nvPr/>
        </p:nvSpPr>
        <p:spPr>
          <a:xfrm>
            <a:off x="4800600" y="2148840"/>
            <a:ext cx="868680" cy="8686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2" name="Text 10"/>
          <p:cNvSpPr/>
          <p:nvPr/>
        </p:nvSpPr>
        <p:spPr>
          <a:xfrm>
            <a:off x="4800600" y="3200400"/>
            <a:ext cx="2880360" cy="457200"/>
          </a:xfrm>
          <a:prstGeom prst="rect">
            <a:avLst/>
          </a:prstGeom>
          <a:noFill/>
          <a:ln/>
        </p:spPr>
        <p:txBody>
          <a:bodyPr wrap="square" rtlCol="0" anchor="ctr"/>
          <a:lstStyle/>
          <a:p>
            <a:pPr marL="0" indent="0">
              <a:buNone/>
            </a:pPr>
            <a:r>
              <a:rPr lang="en-US" sz="1800" b="1" dirty="0">
                <a:solidFill>
                  <a:srgbClr val="0D213B"/>
                </a:solidFill>
                <a:latin typeface="Cambria" pitchFamily="34" charset="0"/>
                <a:ea typeface="Cambria" pitchFamily="34" charset="-122"/>
                <a:cs typeface="Cambria" pitchFamily="34" charset="-120"/>
              </a:rPr>
              <a:t>Avec compte</a:t>
            </a:r>
            <a:endParaRPr lang="en-US" sz="1800" dirty="0"/>
          </a:p>
        </p:txBody>
      </p:sp>
      <p:sp>
        <p:nvSpPr>
          <p:cNvPr id="13" name="Text 11"/>
          <p:cNvSpPr/>
          <p:nvPr/>
        </p:nvSpPr>
        <p:spPr>
          <a:xfrm>
            <a:off x="4800600" y="3703320"/>
            <a:ext cx="2880360" cy="1737360"/>
          </a:xfrm>
          <a:prstGeom prst="rect">
            <a:avLst/>
          </a:prstGeom>
          <a:noFill/>
          <a:ln/>
        </p:spPr>
        <p:txBody>
          <a:bodyPr wrap="square" rtlCol="0" anchor="ctr"/>
          <a:lstStyle/>
          <a:p>
            <a:pPr marL="0" indent="0">
              <a:lnSpc>
                <a:spcPts val="1800"/>
              </a:lnSpc>
              <a:buNone/>
            </a:pPr>
            <a:r>
              <a:rPr lang="en-US" sz="1300" dirty="0">
                <a:solidFill>
                  <a:srgbClr val="3B4450"/>
                </a:solidFill>
                <a:latin typeface="Calibri" pitchFamily="34" charset="0"/>
                <a:ea typeface="Calibri" pitchFamily="34" charset="-122"/>
                <a:cs typeface="Calibri" pitchFamily="34" charset="-120"/>
              </a:rPr>
              <a:t>Chercheur en sécurité ou utilisateur public — suivi complet dans son espace personnel.</a:t>
            </a:r>
            <a:endParaRPr lang="en-US" sz="1300" dirty="0"/>
          </a:p>
        </p:txBody>
      </p:sp>
      <p:sp>
        <p:nvSpPr>
          <p:cNvPr id="14" name="Shape 12"/>
          <p:cNvSpPr/>
          <p:nvPr/>
        </p:nvSpPr>
        <p:spPr>
          <a:xfrm>
            <a:off x="8321040" y="1783080"/>
            <a:ext cx="3520440" cy="4023360"/>
          </a:xfrm>
          <a:prstGeom prst="roundRect">
            <a:avLst>
              <a:gd name="adj" fmla="val 2338"/>
            </a:avLst>
          </a:prstGeom>
          <a:solidFill>
            <a:srgbClr val="F6F8F9"/>
          </a:solidFill>
          <a:ln w="12700">
            <a:solidFill>
              <a:srgbClr val="DFE3E8"/>
            </a:solidFill>
            <a:prstDash val="solid"/>
          </a:ln>
          <a:effectLst>
            <a:outerShdw blurRad="127000" dist="38100" dir="5400000" algn="bl" rotWithShape="0">
              <a:srgbClr val="1B2430">
                <a:alpha val="18000"/>
              </a:srgbClr>
            </a:outerShdw>
          </a:effectLst>
        </p:spPr>
      </p:sp>
      <p:sp>
        <p:nvSpPr>
          <p:cNvPr id="15" name="Shape 13"/>
          <p:cNvSpPr/>
          <p:nvPr/>
        </p:nvSpPr>
        <p:spPr>
          <a:xfrm>
            <a:off x="8641080" y="2148840"/>
            <a:ext cx="868680" cy="868680"/>
          </a:xfrm>
          <a:prstGeom prst="roundRect">
            <a:avLst>
              <a:gd name="adj" fmla="val 18947"/>
            </a:avLst>
          </a:prstGeom>
          <a:solidFill>
            <a:srgbClr val="C49428"/>
          </a:solidFill>
          <a:ln/>
        </p:spPr>
      </p:sp>
      <p:sp>
        <p:nvSpPr>
          <p:cNvPr id="16" name="Text 14"/>
          <p:cNvSpPr/>
          <p:nvPr/>
        </p:nvSpPr>
        <p:spPr>
          <a:xfrm>
            <a:off x="8641080" y="2148840"/>
            <a:ext cx="868680" cy="8686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8641080" y="3200400"/>
            <a:ext cx="2880360" cy="457200"/>
          </a:xfrm>
          <a:prstGeom prst="rect">
            <a:avLst/>
          </a:prstGeom>
          <a:noFill/>
          <a:ln/>
        </p:spPr>
        <p:txBody>
          <a:bodyPr wrap="square" rtlCol="0" anchor="ctr"/>
          <a:lstStyle/>
          <a:p>
            <a:pPr marL="0" indent="0">
              <a:buNone/>
            </a:pPr>
            <a:r>
              <a:rPr lang="en-US" sz="1800" b="1" dirty="0">
                <a:solidFill>
                  <a:srgbClr val="0D213B"/>
                </a:solidFill>
                <a:latin typeface="Cambria" pitchFamily="34" charset="0"/>
                <a:ea typeface="Cambria" pitchFamily="34" charset="-122"/>
                <a:cs typeface="Cambria" pitchFamily="34" charset="-120"/>
              </a:rPr>
              <a:t>Bug Bounty</a:t>
            </a:r>
            <a:endParaRPr lang="en-US" sz="1800" dirty="0"/>
          </a:p>
        </p:txBody>
      </p:sp>
      <p:sp>
        <p:nvSpPr>
          <p:cNvPr id="18" name="Text 16"/>
          <p:cNvSpPr/>
          <p:nvPr/>
        </p:nvSpPr>
        <p:spPr>
          <a:xfrm>
            <a:off x="8641080" y="3703320"/>
            <a:ext cx="2880360" cy="1737360"/>
          </a:xfrm>
          <a:prstGeom prst="rect">
            <a:avLst/>
          </a:prstGeom>
          <a:noFill/>
          <a:ln/>
        </p:spPr>
        <p:txBody>
          <a:bodyPr wrap="square" rtlCol="0" anchor="ctr"/>
          <a:lstStyle/>
          <a:p>
            <a:pPr marL="0" indent="0">
              <a:lnSpc>
                <a:spcPts val="1800"/>
              </a:lnSpc>
              <a:buNone/>
            </a:pPr>
            <a:r>
              <a:rPr lang="en-US" sz="1300" dirty="0">
                <a:solidFill>
                  <a:srgbClr val="3B4450"/>
                </a:solidFill>
                <a:latin typeface="Calibri" pitchFamily="34" charset="0"/>
                <a:ea typeface="Calibri" pitchFamily="34" charset="-122"/>
                <a:cs typeface="Calibri" pitchFamily="34" charset="-120"/>
              </a:rPr>
              <a:t>Compte + email vérifié + MFA obligatoires. Anonymat impossible : une récompense peut être versée.</a:t>
            </a:r>
            <a:endParaRPr lang="en-US" sz="1300" dirty="0"/>
          </a:p>
        </p:txBody>
      </p:sp>
      <p:sp>
        <p:nvSpPr>
          <p:cNvPr id="19" name="Text 17"/>
          <p:cNvSpPr/>
          <p:nvPr/>
        </p:nvSpPr>
        <p:spPr>
          <a:xfrm>
            <a:off x="640080" y="5989320"/>
            <a:ext cx="10881360" cy="548640"/>
          </a:xfrm>
          <a:prstGeom prst="rect">
            <a:avLst/>
          </a:prstGeom>
          <a:noFill/>
          <a:ln/>
        </p:spPr>
        <p:txBody>
          <a:bodyPr wrap="square" rtlCol="0" anchor="ctr"/>
          <a:lstStyle/>
          <a:p>
            <a:pPr marL="0" indent="0">
              <a:buNone/>
            </a:pPr>
            <a:r>
              <a:rPr lang="en-US" sz="1250" i="1" dirty="0">
                <a:solidFill>
                  <a:srgbClr val="6E7884"/>
                </a:solidFill>
                <a:latin typeface="Calibri" pitchFamily="34" charset="0"/>
                <a:ea typeface="Calibri" pitchFamily="34" charset="-122"/>
                <a:cs typeface="Calibri" pitchFamily="34" charset="-120"/>
              </a:rPr>
              <a:t>Seuls deux champs sont obligatoires dans le formulaire : le titre et la description. Tout le reste (CVSS, CWE, pièces jointes...) peut être complété plus tard par l'équipe de triage.</a:t>
            </a:r>
            <a:endParaRPr lang="en-US" sz="1250" dirty="0"/>
          </a:p>
        </p:txBody>
      </p:sp>
      <p:sp>
        <p:nvSpPr>
          <p:cNvPr id="20" name="Text 18"/>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9"/>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GOUVERNANCE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Dix rôles, des permissions jamais implicites</a:t>
            </a:r>
            <a:endParaRPr lang="en-US" sz="3200" dirty="0"/>
          </a:p>
        </p:txBody>
      </p:sp>
      <p:sp>
        <p:nvSpPr>
          <p:cNvPr id="4" name="Text 2"/>
          <p:cNvSpPr/>
          <p:nvPr/>
        </p:nvSpPr>
        <p:spPr>
          <a:xfrm>
            <a:off x="640080" y="1508760"/>
            <a:ext cx="10881360" cy="548640"/>
          </a:xfrm>
          <a:prstGeom prst="rect">
            <a:avLst/>
          </a:prstGeom>
          <a:noFill/>
          <a:ln/>
        </p:spPr>
        <p:txBody>
          <a:bodyPr wrap="square" rtlCol="0" anchor="ctr"/>
          <a:lstStyle/>
          <a:p>
            <a:pPr marL="0" indent="0">
              <a:lnSpc>
                <a:spcPts val="1800"/>
              </a:lnSpc>
              <a:buNone/>
            </a:pPr>
            <a:r>
              <a:rPr lang="en-US" sz="1350" dirty="0">
                <a:solidFill>
                  <a:srgbClr val="3B4450"/>
                </a:solidFill>
                <a:latin typeface="Calibri" pitchFamily="34" charset="0"/>
                <a:ea typeface="Calibri" pitchFamily="34" charset="-122"/>
                <a:cs typeface="Calibri" pitchFamily="34" charset="-120"/>
              </a:rPr>
              <a:t>Chaque action sensible (trier, assigner, fixer la sévérité, approuver une récompense, publier) exige une capacité précise — aucun rôle n'hérite d'un droit qui ne lui est pas explicitement accordé.</a:t>
            </a:r>
            <a:endParaRPr lang="en-US" sz="1350" dirty="0"/>
          </a:p>
        </p:txBody>
      </p:sp>
      <p:sp>
        <p:nvSpPr>
          <p:cNvPr id="5" name="Shape 3"/>
          <p:cNvSpPr/>
          <p:nvPr/>
        </p:nvSpPr>
        <p:spPr>
          <a:xfrm>
            <a:off x="640080" y="2240280"/>
            <a:ext cx="3520440" cy="1417320"/>
          </a:xfrm>
          <a:prstGeom prst="roundRect">
            <a:avLst>
              <a:gd name="adj" fmla="val 5806"/>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6" name="Shape 4"/>
          <p:cNvSpPr/>
          <p:nvPr/>
        </p:nvSpPr>
        <p:spPr>
          <a:xfrm>
            <a:off x="640080" y="2240280"/>
            <a:ext cx="64008" cy="1417320"/>
          </a:xfrm>
          <a:prstGeom prst="rect">
            <a:avLst/>
          </a:prstGeom>
          <a:solidFill>
            <a:srgbClr val="0D7A5F"/>
          </a:solidFill>
          <a:ln/>
        </p:spPr>
      </p:sp>
      <p:sp>
        <p:nvSpPr>
          <p:cNvPr id="7" name="Text 5"/>
          <p:cNvSpPr/>
          <p:nvPr/>
        </p:nvSpPr>
        <p:spPr>
          <a:xfrm>
            <a:off x="914400" y="2377440"/>
            <a:ext cx="3017520" cy="457200"/>
          </a:xfrm>
          <a:prstGeom prst="rect">
            <a:avLst/>
          </a:prstGeom>
          <a:noFill/>
          <a:ln/>
        </p:spPr>
        <p:txBody>
          <a:bodyPr wrap="square" rtlCol="0" anchor="ctr"/>
          <a:lstStyle/>
          <a:p>
            <a:pPr marL="0" indent="0">
              <a:buNone/>
            </a:pPr>
            <a:r>
              <a:rPr lang="en-US" sz="1400" b="1" dirty="0">
                <a:solidFill>
                  <a:srgbClr val="0D213B"/>
                </a:solidFill>
                <a:latin typeface="Cambria" pitchFamily="34" charset="0"/>
                <a:ea typeface="Cambria" pitchFamily="34" charset="-122"/>
                <a:cs typeface="Cambria" pitchFamily="34" charset="-120"/>
              </a:rPr>
              <a:t>Coordinateur national</a:t>
            </a:r>
            <a:endParaRPr lang="en-US" sz="1400" dirty="0"/>
          </a:p>
        </p:txBody>
      </p:sp>
      <p:sp>
        <p:nvSpPr>
          <p:cNvPr id="8" name="Text 6"/>
          <p:cNvSpPr/>
          <p:nvPr/>
        </p:nvSpPr>
        <p:spPr>
          <a:xfrm>
            <a:off x="914400" y="2807208"/>
            <a:ext cx="3017520" cy="777240"/>
          </a:xfrm>
          <a:prstGeom prst="rect">
            <a:avLst/>
          </a:prstGeom>
          <a:noFill/>
          <a:ln/>
        </p:spPr>
        <p:txBody>
          <a:bodyPr wrap="square" rtlCol="0" anchor="ctr"/>
          <a:lstStyle/>
          <a:p>
            <a:pPr marL="0" indent="0">
              <a:lnSpc>
                <a:spcPts val="1500"/>
              </a:lnSpc>
              <a:buNone/>
            </a:pPr>
            <a:r>
              <a:rPr lang="en-US" sz="1150" dirty="0">
                <a:solidFill>
                  <a:srgbClr val="6E7884"/>
                </a:solidFill>
                <a:latin typeface="Calibri" pitchFamily="34" charset="0"/>
                <a:ea typeface="Calibri" pitchFamily="34" charset="-122"/>
                <a:cs typeface="Calibri" pitchFamily="34" charset="-120"/>
              </a:rPr>
              <a:t>Pilote l'ensemble : triage, assignation, approbation, publication</a:t>
            </a:r>
            <a:endParaRPr lang="en-US" sz="1150" dirty="0"/>
          </a:p>
        </p:txBody>
      </p:sp>
      <p:sp>
        <p:nvSpPr>
          <p:cNvPr id="9" name="Shape 7"/>
          <p:cNvSpPr/>
          <p:nvPr/>
        </p:nvSpPr>
        <p:spPr>
          <a:xfrm>
            <a:off x="4480560" y="2240280"/>
            <a:ext cx="3520440" cy="1417320"/>
          </a:xfrm>
          <a:prstGeom prst="roundRect">
            <a:avLst>
              <a:gd name="adj" fmla="val 5806"/>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10" name="Shape 8"/>
          <p:cNvSpPr/>
          <p:nvPr/>
        </p:nvSpPr>
        <p:spPr>
          <a:xfrm>
            <a:off x="4480560" y="2240280"/>
            <a:ext cx="64008" cy="1417320"/>
          </a:xfrm>
          <a:prstGeom prst="rect">
            <a:avLst/>
          </a:prstGeom>
          <a:solidFill>
            <a:srgbClr val="0D7A5F"/>
          </a:solidFill>
          <a:ln/>
        </p:spPr>
      </p:sp>
      <p:sp>
        <p:nvSpPr>
          <p:cNvPr id="11" name="Text 9"/>
          <p:cNvSpPr/>
          <p:nvPr/>
        </p:nvSpPr>
        <p:spPr>
          <a:xfrm>
            <a:off x="4754880" y="2377440"/>
            <a:ext cx="3017520" cy="457200"/>
          </a:xfrm>
          <a:prstGeom prst="rect">
            <a:avLst/>
          </a:prstGeom>
          <a:noFill/>
          <a:ln/>
        </p:spPr>
        <p:txBody>
          <a:bodyPr wrap="square" rtlCol="0" anchor="ctr"/>
          <a:lstStyle/>
          <a:p>
            <a:pPr marL="0" indent="0">
              <a:buNone/>
            </a:pPr>
            <a:r>
              <a:rPr lang="en-US" sz="1400" b="1" dirty="0">
                <a:solidFill>
                  <a:srgbClr val="0D213B"/>
                </a:solidFill>
                <a:latin typeface="Cambria" pitchFamily="34" charset="0"/>
                <a:ea typeface="Cambria" pitchFamily="34" charset="-122"/>
                <a:cs typeface="Cambria" pitchFamily="34" charset="-120"/>
              </a:rPr>
              <a:t>Analyste CSIRT</a:t>
            </a:r>
            <a:endParaRPr lang="en-US" sz="1400" dirty="0"/>
          </a:p>
        </p:txBody>
      </p:sp>
      <p:sp>
        <p:nvSpPr>
          <p:cNvPr id="12" name="Text 10"/>
          <p:cNvSpPr/>
          <p:nvPr/>
        </p:nvSpPr>
        <p:spPr>
          <a:xfrm>
            <a:off x="4754880" y="2807208"/>
            <a:ext cx="3017520" cy="777240"/>
          </a:xfrm>
          <a:prstGeom prst="rect">
            <a:avLst/>
          </a:prstGeom>
          <a:noFill/>
          <a:ln/>
        </p:spPr>
        <p:txBody>
          <a:bodyPr wrap="square" rtlCol="0" anchor="ctr"/>
          <a:lstStyle/>
          <a:p>
            <a:pPr marL="0" indent="0">
              <a:lnSpc>
                <a:spcPts val="1500"/>
              </a:lnSpc>
              <a:buNone/>
            </a:pPr>
            <a:r>
              <a:rPr lang="en-US" sz="1150" dirty="0">
                <a:solidFill>
                  <a:srgbClr val="6E7884"/>
                </a:solidFill>
                <a:latin typeface="Calibri" pitchFamily="34" charset="0"/>
                <a:ea typeface="Calibri" pitchFamily="34" charset="-122"/>
                <a:cs typeface="Calibri" pitchFamily="34" charset="-120"/>
              </a:rPr>
              <a:t>Traite au quotidien : triage, sévérité, propose une récompense</a:t>
            </a:r>
            <a:endParaRPr lang="en-US" sz="1150" dirty="0"/>
          </a:p>
        </p:txBody>
      </p:sp>
      <p:sp>
        <p:nvSpPr>
          <p:cNvPr id="13" name="Shape 11"/>
          <p:cNvSpPr/>
          <p:nvPr/>
        </p:nvSpPr>
        <p:spPr>
          <a:xfrm>
            <a:off x="8321040" y="2240280"/>
            <a:ext cx="3520440" cy="1417320"/>
          </a:xfrm>
          <a:prstGeom prst="roundRect">
            <a:avLst>
              <a:gd name="adj" fmla="val 5806"/>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14" name="Shape 12"/>
          <p:cNvSpPr/>
          <p:nvPr/>
        </p:nvSpPr>
        <p:spPr>
          <a:xfrm>
            <a:off x="8321040" y="2240280"/>
            <a:ext cx="64008" cy="1417320"/>
          </a:xfrm>
          <a:prstGeom prst="rect">
            <a:avLst/>
          </a:prstGeom>
          <a:solidFill>
            <a:srgbClr val="0D7A5F"/>
          </a:solidFill>
          <a:ln/>
        </p:spPr>
      </p:sp>
      <p:sp>
        <p:nvSpPr>
          <p:cNvPr id="15" name="Text 13"/>
          <p:cNvSpPr/>
          <p:nvPr/>
        </p:nvSpPr>
        <p:spPr>
          <a:xfrm>
            <a:off x="8595360" y="2377440"/>
            <a:ext cx="3017520" cy="457200"/>
          </a:xfrm>
          <a:prstGeom prst="rect">
            <a:avLst/>
          </a:prstGeom>
          <a:noFill/>
          <a:ln/>
        </p:spPr>
        <p:txBody>
          <a:bodyPr wrap="square" rtlCol="0" anchor="ctr"/>
          <a:lstStyle/>
          <a:p>
            <a:pPr marL="0" indent="0">
              <a:buNone/>
            </a:pPr>
            <a:r>
              <a:rPr lang="en-US" sz="1400" b="1" dirty="0">
                <a:solidFill>
                  <a:srgbClr val="0D213B"/>
                </a:solidFill>
                <a:latin typeface="Cambria" pitchFamily="34" charset="0"/>
                <a:ea typeface="Cambria" pitchFamily="34" charset="-122"/>
                <a:cs typeface="Cambria" pitchFamily="34" charset="-120"/>
              </a:rPr>
              <a:t>Agent de triage</a:t>
            </a:r>
            <a:endParaRPr lang="en-US" sz="1400" dirty="0"/>
          </a:p>
        </p:txBody>
      </p:sp>
      <p:sp>
        <p:nvSpPr>
          <p:cNvPr id="16" name="Text 14"/>
          <p:cNvSpPr/>
          <p:nvPr/>
        </p:nvSpPr>
        <p:spPr>
          <a:xfrm>
            <a:off x="8595360" y="2807208"/>
            <a:ext cx="3017520" cy="777240"/>
          </a:xfrm>
          <a:prstGeom prst="rect">
            <a:avLst/>
          </a:prstGeom>
          <a:noFill/>
          <a:ln/>
        </p:spPr>
        <p:txBody>
          <a:bodyPr wrap="square" rtlCol="0" anchor="ctr"/>
          <a:lstStyle/>
          <a:p>
            <a:pPr marL="0" indent="0">
              <a:lnSpc>
                <a:spcPts val="1500"/>
              </a:lnSpc>
              <a:buNone/>
            </a:pPr>
            <a:r>
              <a:rPr lang="en-US" sz="1150" dirty="0">
                <a:solidFill>
                  <a:srgbClr val="6E7884"/>
                </a:solidFill>
                <a:latin typeface="Calibri" pitchFamily="34" charset="0"/>
                <a:ea typeface="Calibri" pitchFamily="34" charset="-122"/>
                <a:cs typeface="Calibri" pitchFamily="34" charset="-120"/>
              </a:rPr>
              <a:t>Qualifie les dossiers entrants — ni assignation, ni publication</a:t>
            </a:r>
            <a:endParaRPr lang="en-US" sz="1150" dirty="0"/>
          </a:p>
        </p:txBody>
      </p:sp>
      <p:sp>
        <p:nvSpPr>
          <p:cNvPr id="17" name="Shape 15"/>
          <p:cNvSpPr/>
          <p:nvPr/>
        </p:nvSpPr>
        <p:spPr>
          <a:xfrm>
            <a:off x="640080" y="3931920"/>
            <a:ext cx="3520440" cy="1417320"/>
          </a:xfrm>
          <a:prstGeom prst="roundRect">
            <a:avLst>
              <a:gd name="adj" fmla="val 5806"/>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18" name="Shape 16"/>
          <p:cNvSpPr/>
          <p:nvPr/>
        </p:nvSpPr>
        <p:spPr>
          <a:xfrm>
            <a:off x="640080" y="3931920"/>
            <a:ext cx="64008" cy="1417320"/>
          </a:xfrm>
          <a:prstGeom prst="rect">
            <a:avLst/>
          </a:prstGeom>
          <a:solidFill>
            <a:srgbClr val="C49428"/>
          </a:solidFill>
          <a:ln/>
        </p:spPr>
      </p:sp>
      <p:sp>
        <p:nvSpPr>
          <p:cNvPr id="19" name="Text 17"/>
          <p:cNvSpPr/>
          <p:nvPr/>
        </p:nvSpPr>
        <p:spPr>
          <a:xfrm>
            <a:off x="914400" y="4069080"/>
            <a:ext cx="3017520" cy="457200"/>
          </a:xfrm>
          <a:prstGeom prst="rect">
            <a:avLst/>
          </a:prstGeom>
          <a:noFill/>
          <a:ln/>
        </p:spPr>
        <p:txBody>
          <a:bodyPr wrap="square" rtlCol="0" anchor="ctr"/>
          <a:lstStyle/>
          <a:p>
            <a:pPr marL="0" indent="0">
              <a:buNone/>
            </a:pPr>
            <a:r>
              <a:rPr lang="en-US" sz="1400" b="1" dirty="0">
                <a:solidFill>
                  <a:srgbClr val="0D213B"/>
                </a:solidFill>
                <a:latin typeface="Cambria" pitchFamily="34" charset="0"/>
                <a:ea typeface="Cambria" pitchFamily="34" charset="-122"/>
                <a:cs typeface="Cambria" pitchFamily="34" charset="-120"/>
              </a:rPr>
              <a:t>Responsable / DSI d'organisation</a:t>
            </a:r>
            <a:endParaRPr lang="en-US" sz="1400" dirty="0"/>
          </a:p>
        </p:txBody>
      </p:sp>
      <p:sp>
        <p:nvSpPr>
          <p:cNvPr id="20" name="Text 18"/>
          <p:cNvSpPr/>
          <p:nvPr/>
        </p:nvSpPr>
        <p:spPr>
          <a:xfrm>
            <a:off x="914400" y="4498848"/>
            <a:ext cx="3017520" cy="777240"/>
          </a:xfrm>
          <a:prstGeom prst="rect">
            <a:avLst/>
          </a:prstGeom>
          <a:noFill/>
          <a:ln/>
        </p:spPr>
        <p:txBody>
          <a:bodyPr wrap="square" rtlCol="0" anchor="ctr"/>
          <a:lstStyle/>
          <a:p>
            <a:pPr marL="0" indent="0">
              <a:lnSpc>
                <a:spcPts val="1500"/>
              </a:lnSpc>
              <a:buNone/>
            </a:pPr>
            <a:r>
              <a:rPr lang="en-US" sz="1150" dirty="0">
                <a:solidFill>
                  <a:srgbClr val="6E7884"/>
                </a:solidFill>
                <a:latin typeface="Calibri" pitchFamily="34" charset="0"/>
                <a:ea typeface="Calibri" pitchFamily="34" charset="-122"/>
                <a:cs typeface="Calibri" pitchFamily="34" charset="-120"/>
              </a:rPr>
              <a:t>Traite la remédiation de sa structure uniquement</a:t>
            </a:r>
            <a:endParaRPr lang="en-US" sz="1150" dirty="0"/>
          </a:p>
        </p:txBody>
      </p:sp>
      <p:sp>
        <p:nvSpPr>
          <p:cNvPr id="21" name="Shape 19"/>
          <p:cNvSpPr/>
          <p:nvPr/>
        </p:nvSpPr>
        <p:spPr>
          <a:xfrm>
            <a:off x="4480560" y="3931920"/>
            <a:ext cx="3520440" cy="1417320"/>
          </a:xfrm>
          <a:prstGeom prst="roundRect">
            <a:avLst>
              <a:gd name="adj" fmla="val 5806"/>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22" name="Shape 20"/>
          <p:cNvSpPr/>
          <p:nvPr/>
        </p:nvSpPr>
        <p:spPr>
          <a:xfrm>
            <a:off x="4480560" y="3931920"/>
            <a:ext cx="64008" cy="1417320"/>
          </a:xfrm>
          <a:prstGeom prst="rect">
            <a:avLst/>
          </a:prstGeom>
          <a:solidFill>
            <a:srgbClr val="0D213B"/>
          </a:solidFill>
          <a:ln/>
        </p:spPr>
      </p:sp>
      <p:sp>
        <p:nvSpPr>
          <p:cNvPr id="23" name="Text 21"/>
          <p:cNvSpPr/>
          <p:nvPr/>
        </p:nvSpPr>
        <p:spPr>
          <a:xfrm>
            <a:off x="4754880" y="4069080"/>
            <a:ext cx="3017520" cy="457200"/>
          </a:xfrm>
          <a:prstGeom prst="rect">
            <a:avLst/>
          </a:prstGeom>
          <a:noFill/>
          <a:ln/>
        </p:spPr>
        <p:txBody>
          <a:bodyPr wrap="square" rtlCol="0" anchor="ctr"/>
          <a:lstStyle/>
          <a:p>
            <a:pPr marL="0" indent="0">
              <a:buNone/>
            </a:pPr>
            <a:r>
              <a:rPr lang="en-US" sz="1400" b="1" dirty="0">
                <a:solidFill>
                  <a:srgbClr val="0D213B"/>
                </a:solidFill>
                <a:latin typeface="Cambria" pitchFamily="34" charset="0"/>
                <a:ea typeface="Cambria" pitchFamily="34" charset="-122"/>
                <a:cs typeface="Cambria" pitchFamily="34" charset="-120"/>
              </a:rPr>
              <a:t>Chercheur (sécurité / Bug Bounty)</a:t>
            </a:r>
            <a:endParaRPr lang="en-US" sz="1400" dirty="0"/>
          </a:p>
        </p:txBody>
      </p:sp>
      <p:sp>
        <p:nvSpPr>
          <p:cNvPr id="24" name="Text 22"/>
          <p:cNvSpPr/>
          <p:nvPr/>
        </p:nvSpPr>
        <p:spPr>
          <a:xfrm>
            <a:off x="4754880" y="4498848"/>
            <a:ext cx="3017520" cy="777240"/>
          </a:xfrm>
          <a:prstGeom prst="rect">
            <a:avLst/>
          </a:prstGeom>
          <a:noFill/>
          <a:ln/>
        </p:spPr>
        <p:txBody>
          <a:bodyPr wrap="square" rtlCol="0" anchor="ctr"/>
          <a:lstStyle/>
          <a:p>
            <a:pPr marL="0" indent="0">
              <a:lnSpc>
                <a:spcPts val="1500"/>
              </a:lnSpc>
              <a:buNone/>
            </a:pPr>
            <a:r>
              <a:rPr lang="en-US" sz="1150" dirty="0">
                <a:solidFill>
                  <a:srgbClr val="6E7884"/>
                </a:solidFill>
                <a:latin typeface="Calibri" pitchFamily="34" charset="0"/>
                <a:ea typeface="Calibri" pitchFamily="34" charset="-122"/>
                <a:cs typeface="Calibri" pitchFamily="34" charset="-120"/>
              </a:rPr>
              <a:t>Peut uniquement soumettre un signalement</a:t>
            </a:r>
            <a:endParaRPr lang="en-US" sz="1150" dirty="0"/>
          </a:p>
        </p:txBody>
      </p:sp>
      <p:sp>
        <p:nvSpPr>
          <p:cNvPr id="25" name="Shape 23"/>
          <p:cNvSpPr/>
          <p:nvPr/>
        </p:nvSpPr>
        <p:spPr>
          <a:xfrm>
            <a:off x="8321040" y="3931920"/>
            <a:ext cx="3520440" cy="1417320"/>
          </a:xfrm>
          <a:prstGeom prst="roundRect">
            <a:avLst>
              <a:gd name="adj" fmla="val 5806"/>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26" name="Shape 24"/>
          <p:cNvSpPr/>
          <p:nvPr/>
        </p:nvSpPr>
        <p:spPr>
          <a:xfrm>
            <a:off x="8321040" y="3931920"/>
            <a:ext cx="64008" cy="1417320"/>
          </a:xfrm>
          <a:prstGeom prst="rect">
            <a:avLst/>
          </a:prstGeom>
          <a:solidFill>
            <a:srgbClr val="6E7884"/>
          </a:solidFill>
          <a:ln/>
        </p:spPr>
      </p:sp>
      <p:sp>
        <p:nvSpPr>
          <p:cNvPr id="27" name="Text 25"/>
          <p:cNvSpPr/>
          <p:nvPr/>
        </p:nvSpPr>
        <p:spPr>
          <a:xfrm>
            <a:off x="8595360" y="4069080"/>
            <a:ext cx="3017520" cy="457200"/>
          </a:xfrm>
          <a:prstGeom prst="rect">
            <a:avLst/>
          </a:prstGeom>
          <a:noFill/>
          <a:ln/>
        </p:spPr>
        <p:txBody>
          <a:bodyPr wrap="square" rtlCol="0" anchor="ctr"/>
          <a:lstStyle/>
          <a:p>
            <a:pPr marL="0" indent="0">
              <a:buNone/>
            </a:pPr>
            <a:r>
              <a:rPr lang="en-US" sz="1400" b="1" dirty="0">
                <a:solidFill>
                  <a:srgbClr val="0D213B"/>
                </a:solidFill>
                <a:latin typeface="Cambria" pitchFamily="34" charset="0"/>
                <a:ea typeface="Cambria" pitchFamily="34" charset="-122"/>
                <a:cs typeface="Cambria" pitchFamily="34" charset="-120"/>
              </a:rPr>
              <a:t>Auditeur</a:t>
            </a:r>
            <a:endParaRPr lang="en-US" sz="1400" dirty="0"/>
          </a:p>
        </p:txBody>
      </p:sp>
      <p:sp>
        <p:nvSpPr>
          <p:cNvPr id="28" name="Text 26"/>
          <p:cNvSpPr/>
          <p:nvPr/>
        </p:nvSpPr>
        <p:spPr>
          <a:xfrm>
            <a:off x="8595360" y="4498848"/>
            <a:ext cx="3017520" cy="777240"/>
          </a:xfrm>
          <a:prstGeom prst="rect">
            <a:avLst/>
          </a:prstGeom>
          <a:noFill/>
          <a:ln/>
        </p:spPr>
        <p:txBody>
          <a:bodyPr wrap="square" rtlCol="0" anchor="ctr"/>
          <a:lstStyle/>
          <a:p>
            <a:pPr marL="0" indent="0">
              <a:lnSpc>
                <a:spcPts val="1500"/>
              </a:lnSpc>
              <a:buNone/>
            </a:pPr>
            <a:r>
              <a:rPr lang="en-US" sz="1150" dirty="0">
                <a:solidFill>
                  <a:srgbClr val="6E7884"/>
                </a:solidFill>
                <a:latin typeface="Calibri" pitchFamily="34" charset="0"/>
                <a:ea typeface="Calibri" pitchFamily="34" charset="-122"/>
                <a:cs typeface="Calibri" pitchFamily="34" charset="-120"/>
              </a:rPr>
              <a:t>Lecture seule stricte : aucune action de modification</a:t>
            </a:r>
            <a:endParaRPr lang="en-US" sz="1150" dirty="0"/>
          </a:p>
        </p:txBody>
      </p:sp>
      <p:sp>
        <p:nvSpPr>
          <p:cNvPr id="29" name="Text 27"/>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ÉTAPES 1 — 2</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De la soumission à la prise en charge</a:t>
            </a:r>
            <a:endParaRPr lang="en-US" sz="3200" dirty="0"/>
          </a:p>
        </p:txBody>
      </p:sp>
      <p:sp>
        <p:nvSpPr>
          <p:cNvPr id="4" name="Shape 2"/>
          <p:cNvSpPr/>
          <p:nvPr/>
        </p:nvSpPr>
        <p:spPr>
          <a:xfrm>
            <a:off x="640080" y="1920240"/>
            <a:ext cx="594360" cy="594360"/>
          </a:xfrm>
          <a:prstGeom prst="ellipse">
            <a:avLst/>
          </a:prstGeom>
          <a:solidFill>
            <a:srgbClr val="0D7A5F"/>
          </a:solidFill>
          <a:ln/>
        </p:spPr>
      </p:sp>
      <p:sp>
        <p:nvSpPr>
          <p:cNvPr id="5" name="Text 3"/>
          <p:cNvSpPr/>
          <p:nvPr/>
        </p:nvSpPr>
        <p:spPr>
          <a:xfrm>
            <a:off x="640080" y="1901952"/>
            <a:ext cx="594360" cy="594360"/>
          </a:xfrm>
          <a:prstGeom prst="rect">
            <a:avLst/>
          </a:prstGeom>
          <a:noFill/>
          <a:ln/>
        </p:spPr>
        <p:txBody>
          <a:bodyPr wrap="square" rtlCol="0" anchor="ctr"/>
          <a:lstStyle/>
          <a:p>
            <a:pPr marL="0" indent="0" algn="ctr">
              <a:buNone/>
            </a:pPr>
            <a:r>
              <a:rPr lang="en-US" sz="1690" b="1" dirty="0">
                <a:solidFill>
                  <a:srgbClr val="FFFFFF"/>
                </a:solidFill>
                <a:latin typeface="Calibri" pitchFamily="34" charset="0"/>
                <a:ea typeface="Calibri" pitchFamily="34" charset="-122"/>
                <a:cs typeface="Calibri" pitchFamily="34" charset="-120"/>
              </a:rPr>
              <a:t>1</a:t>
            </a:r>
            <a:endParaRPr lang="en-US" sz="1690" dirty="0"/>
          </a:p>
        </p:txBody>
      </p:sp>
      <p:sp>
        <p:nvSpPr>
          <p:cNvPr id="6" name="Shape 4"/>
          <p:cNvSpPr/>
          <p:nvPr/>
        </p:nvSpPr>
        <p:spPr>
          <a:xfrm>
            <a:off x="937260" y="2514600"/>
            <a:ext cx="0" cy="457200"/>
          </a:xfrm>
          <a:prstGeom prst="line">
            <a:avLst/>
          </a:prstGeom>
          <a:noFill/>
          <a:ln w="25400">
            <a:solidFill>
              <a:srgbClr val="DFE3E8"/>
            </a:solidFill>
            <a:prstDash val="dash"/>
          </a:ln>
        </p:spPr>
      </p:sp>
      <p:sp>
        <p:nvSpPr>
          <p:cNvPr id="7" name="Text 5"/>
          <p:cNvSpPr/>
          <p:nvPr/>
        </p:nvSpPr>
        <p:spPr>
          <a:xfrm>
            <a:off x="1463040" y="1901952"/>
            <a:ext cx="3291840" cy="594360"/>
          </a:xfrm>
          <a:prstGeom prst="rect">
            <a:avLst/>
          </a:prstGeom>
          <a:noFill/>
          <a:ln/>
        </p:spPr>
        <p:txBody>
          <a:bodyPr wrap="square" rtlCol="0" anchor="ctr"/>
          <a:lstStyle/>
          <a:p>
            <a:pPr marL="0" indent="0">
              <a:buNone/>
            </a:pPr>
            <a:r>
              <a:rPr lang="en-US" sz="1600" b="1" dirty="0">
                <a:solidFill>
                  <a:srgbClr val="0D213B"/>
                </a:solidFill>
                <a:latin typeface="Cambria" pitchFamily="34" charset="0"/>
                <a:ea typeface="Cambria" pitchFamily="34" charset="-122"/>
                <a:cs typeface="Cambria" pitchFamily="34" charset="-120"/>
              </a:rPr>
              <a:t>Soumission</a:t>
            </a:r>
            <a:endParaRPr lang="en-US" sz="1600" dirty="0"/>
          </a:p>
        </p:txBody>
      </p:sp>
      <p:sp>
        <p:nvSpPr>
          <p:cNvPr id="8" name="Text 6"/>
          <p:cNvSpPr/>
          <p:nvPr/>
        </p:nvSpPr>
        <p:spPr>
          <a:xfrm>
            <a:off x="4846320" y="1901952"/>
            <a:ext cx="6492240" cy="640080"/>
          </a:xfrm>
          <a:prstGeom prst="rect">
            <a:avLst/>
          </a:prstGeom>
          <a:noFill/>
          <a:ln/>
        </p:spPr>
        <p:txBody>
          <a:bodyPr wrap="square" rtlCol="0" anchor="ctr"/>
          <a:lstStyle/>
          <a:p>
            <a:pPr marL="0" indent="0">
              <a:lnSpc>
                <a:spcPts val="1700"/>
              </a:lnSpc>
              <a:buNone/>
            </a:pPr>
            <a:r>
              <a:rPr lang="en-US" sz="1300" dirty="0">
                <a:solidFill>
                  <a:srgbClr val="3B4450"/>
                </a:solidFill>
                <a:latin typeface="Calibri" pitchFamily="34" charset="0"/>
                <a:ea typeface="Calibri" pitchFamily="34" charset="-122"/>
                <a:cs typeface="Calibri" pitchFamily="34" charset="-120"/>
              </a:rPr>
              <a:t>Le déclarant envoie son signalement — avec ou sans compte.</a:t>
            </a:r>
            <a:endParaRPr lang="en-US" sz="1300" dirty="0"/>
          </a:p>
        </p:txBody>
      </p:sp>
      <p:sp>
        <p:nvSpPr>
          <p:cNvPr id="9" name="Shape 7"/>
          <p:cNvSpPr/>
          <p:nvPr/>
        </p:nvSpPr>
        <p:spPr>
          <a:xfrm>
            <a:off x="640080" y="2971800"/>
            <a:ext cx="594360" cy="594360"/>
          </a:xfrm>
          <a:prstGeom prst="ellipse">
            <a:avLst/>
          </a:prstGeom>
          <a:solidFill>
            <a:srgbClr val="0D7A5F"/>
          </a:solidFill>
          <a:ln/>
        </p:spPr>
      </p:sp>
      <p:sp>
        <p:nvSpPr>
          <p:cNvPr id="10" name="Text 8"/>
          <p:cNvSpPr/>
          <p:nvPr/>
        </p:nvSpPr>
        <p:spPr>
          <a:xfrm>
            <a:off x="640080" y="2953512"/>
            <a:ext cx="594360" cy="594360"/>
          </a:xfrm>
          <a:prstGeom prst="rect">
            <a:avLst/>
          </a:prstGeom>
          <a:noFill/>
          <a:ln/>
        </p:spPr>
        <p:txBody>
          <a:bodyPr wrap="square" rtlCol="0" anchor="ctr"/>
          <a:lstStyle/>
          <a:p>
            <a:pPr marL="0" indent="0" algn="ctr">
              <a:buNone/>
            </a:pPr>
            <a:r>
              <a:rPr lang="en-US" sz="1690" b="1" dirty="0">
                <a:solidFill>
                  <a:srgbClr val="FFFFFF"/>
                </a:solidFill>
                <a:latin typeface="Calibri" pitchFamily="34" charset="0"/>
                <a:ea typeface="Calibri" pitchFamily="34" charset="-122"/>
                <a:cs typeface="Calibri" pitchFamily="34" charset="-120"/>
              </a:rPr>
              <a:t>2</a:t>
            </a:r>
            <a:endParaRPr lang="en-US" sz="1690" dirty="0"/>
          </a:p>
        </p:txBody>
      </p:sp>
      <p:sp>
        <p:nvSpPr>
          <p:cNvPr id="11" name="Shape 9"/>
          <p:cNvSpPr/>
          <p:nvPr/>
        </p:nvSpPr>
        <p:spPr>
          <a:xfrm>
            <a:off x="937260" y="3566160"/>
            <a:ext cx="0" cy="457200"/>
          </a:xfrm>
          <a:prstGeom prst="line">
            <a:avLst/>
          </a:prstGeom>
          <a:noFill/>
          <a:ln w="25400">
            <a:solidFill>
              <a:srgbClr val="DFE3E8"/>
            </a:solidFill>
            <a:prstDash val="dash"/>
          </a:ln>
        </p:spPr>
      </p:sp>
      <p:sp>
        <p:nvSpPr>
          <p:cNvPr id="12" name="Text 10"/>
          <p:cNvSpPr/>
          <p:nvPr/>
        </p:nvSpPr>
        <p:spPr>
          <a:xfrm>
            <a:off x="1463040" y="2953512"/>
            <a:ext cx="3291840" cy="594360"/>
          </a:xfrm>
          <a:prstGeom prst="rect">
            <a:avLst/>
          </a:prstGeom>
          <a:noFill/>
          <a:ln/>
        </p:spPr>
        <p:txBody>
          <a:bodyPr wrap="square" rtlCol="0" anchor="ctr"/>
          <a:lstStyle/>
          <a:p>
            <a:pPr marL="0" indent="0">
              <a:buNone/>
            </a:pPr>
            <a:r>
              <a:rPr lang="en-US" sz="1600" b="1" dirty="0">
                <a:solidFill>
                  <a:srgbClr val="0D213B"/>
                </a:solidFill>
                <a:latin typeface="Cambria" pitchFamily="34" charset="0"/>
                <a:ea typeface="Cambria" pitchFamily="34" charset="-122"/>
                <a:cs typeface="Cambria" pitchFamily="34" charset="-120"/>
              </a:rPr>
              <a:t>Notification immédiate</a:t>
            </a:r>
            <a:endParaRPr lang="en-US" sz="1600" dirty="0"/>
          </a:p>
        </p:txBody>
      </p:sp>
      <p:sp>
        <p:nvSpPr>
          <p:cNvPr id="13" name="Text 11"/>
          <p:cNvSpPr/>
          <p:nvPr/>
        </p:nvSpPr>
        <p:spPr>
          <a:xfrm>
            <a:off x="4846320" y="2953512"/>
            <a:ext cx="6492240" cy="640080"/>
          </a:xfrm>
          <a:prstGeom prst="rect">
            <a:avLst/>
          </a:prstGeom>
          <a:noFill/>
          <a:ln/>
        </p:spPr>
        <p:txBody>
          <a:bodyPr wrap="square" rtlCol="0" anchor="ctr"/>
          <a:lstStyle/>
          <a:p>
            <a:pPr marL="0" indent="0">
              <a:lnSpc>
                <a:spcPts val="1700"/>
              </a:lnSpc>
              <a:buNone/>
            </a:pPr>
            <a:r>
              <a:rPr lang="en-US" sz="1300" dirty="0">
                <a:solidFill>
                  <a:srgbClr val="3B4450"/>
                </a:solidFill>
                <a:latin typeface="Calibri" pitchFamily="34" charset="0"/>
                <a:ea typeface="Calibri" pitchFamily="34" charset="-122"/>
                <a:cs typeface="Calibri" pitchFamily="34" charset="-120"/>
              </a:rPr>
              <a:t>Tout le pool CSIRT actif est notifié en même temps : Coordinateur, Analystes, Agents de triage.</a:t>
            </a:r>
            <a:endParaRPr lang="en-US" sz="1300" dirty="0"/>
          </a:p>
        </p:txBody>
      </p:sp>
      <p:sp>
        <p:nvSpPr>
          <p:cNvPr id="14" name="Shape 12"/>
          <p:cNvSpPr/>
          <p:nvPr/>
        </p:nvSpPr>
        <p:spPr>
          <a:xfrm>
            <a:off x="640080" y="4023360"/>
            <a:ext cx="594360" cy="594360"/>
          </a:xfrm>
          <a:prstGeom prst="ellipse">
            <a:avLst/>
          </a:prstGeom>
          <a:solidFill>
            <a:srgbClr val="0D7A5F"/>
          </a:solidFill>
          <a:ln/>
        </p:spPr>
      </p:sp>
      <p:sp>
        <p:nvSpPr>
          <p:cNvPr id="15" name="Text 13"/>
          <p:cNvSpPr/>
          <p:nvPr/>
        </p:nvSpPr>
        <p:spPr>
          <a:xfrm>
            <a:off x="640080" y="4005072"/>
            <a:ext cx="594360" cy="594360"/>
          </a:xfrm>
          <a:prstGeom prst="rect">
            <a:avLst/>
          </a:prstGeom>
          <a:noFill/>
          <a:ln/>
        </p:spPr>
        <p:txBody>
          <a:bodyPr wrap="square" rtlCol="0" anchor="ctr"/>
          <a:lstStyle/>
          <a:p>
            <a:pPr marL="0" indent="0" algn="ctr">
              <a:buNone/>
            </a:pPr>
            <a:r>
              <a:rPr lang="en-US" sz="1690" b="1" dirty="0">
                <a:solidFill>
                  <a:srgbClr val="FFFFFF"/>
                </a:solidFill>
                <a:latin typeface="Calibri" pitchFamily="34" charset="0"/>
                <a:ea typeface="Calibri" pitchFamily="34" charset="-122"/>
                <a:cs typeface="Calibri" pitchFamily="34" charset="-120"/>
              </a:rPr>
              <a:t>3</a:t>
            </a:r>
            <a:endParaRPr lang="en-US" sz="1690" dirty="0"/>
          </a:p>
        </p:txBody>
      </p:sp>
      <p:sp>
        <p:nvSpPr>
          <p:cNvPr id="16" name="Shape 14"/>
          <p:cNvSpPr/>
          <p:nvPr/>
        </p:nvSpPr>
        <p:spPr>
          <a:xfrm>
            <a:off x="937260" y="4617720"/>
            <a:ext cx="0" cy="457200"/>
          </a:xfrm>
          <a:prstGeom prst="line">
            <a:avLst/>
          </a:prstGeom>
          <a:noFill/>
          <a:ln w="25400">
            <a:solidFill>
              <a:srgbClr val="DFE3E8"/>
            </a:solidFill>
            <a:prstDash val="dash"/>
          </a:ln>
        </p:spPr>
      </p:sp>
      <p:sp>
        <p:nvSpPr>
          <p:cNvPr id="17" name="Text 15"/>
          <p:cNvSpPr/>
          <p:nvPr/>
        </p:nvSpPr>
        <p:spPr>
          <a:xfrm>
            <a:off x="1463040" y="4005072"/>
            <a:ext cx="3291840" cy="594360"/>
          </a:xfrm>
          <a:prstGeom prst="rect">
            <a:avLst/>
          </a:prstGeom>
          <a:noFill/>
          <a:ln/>
        </p:spPr>
        <p:txBody>
          <a:bodyPr wrap="square" rtlCol="0" anchor="ctr"/>
          <a:lstStyle/>
          <a:p>
            <a:pPr marL="0" indent="0">
              <a:buNone/>
            </a:pPr>
            <a:r>
              <a:rPr lang="en-US" sz="1600" b="1" dirty="0">
                <a:solidFill>
                  <a:srgbClr val="0D213B"/>
                </a:solidFill>
                <a:latin typeface="Cambria" pitchFamily="34" charset="0"/>
                <a:ea typeface="Cambria" pitchFamily="34" charset="-122"/>
                <a:cs typeface="Cambria" pitchFamily="34" charset="-120"/>
              </a:rPr>
              <a:t>Visibilité totale</a:t>
            </a:r>
            <a:endParaRPr lang="en-US" sz="1600" dirty="0"/>
          </a:p>
        </p:txBody>
      </p:sp>
      <p:sp>
        <p:nvSpPr>
          <p:cNvPr id="18" name="Text 16"/>
          <p:cNvSpPr/>
          <p:nvPr/>
        </p:nvSpPr>
        <p:spPr>
          <a:xfrm>
            <a:off x="4846320" y="4005072"/>
            <a:ext cx="6492240" cy="640080"/>
          </a:xfrm>
          <a:prstGeom prst="rect">
            <a:avLst/>
          </a:prstGeom>
          <a:noFill/>
          <a:ln/>
        </p:spPr>
        <p:txBody>
          <a:bodyPr wrap="square" rtlCol="0" anchor="ctr"/>
          <a:lstStyle/>
          <a:p>
            <a:pPr marL="0" indent="0">
              <a:lnSpc>
                <a:spcPts val="1700"/>
              </a:lnSpc>
              <a:buNone/>
            </a:pPr>
            <a:r>
              <a:rPr lang="en-US" sz="1300" dirty="0">
                <a:solidFill>
                  <a:srgbClr val="3B4450"/>
                </a:solidFill>
                <a:latin typeface="Calibri" pitchFamily="34" charset="0"/>
                <a:ea typeface="Calibri" pitchFamily="34" charset="-122"/>
                <a:cs typeface="Calibri" pitchFamily="34" charset="-120"/>
              </a:rPr>
              <a:t>Chaque membre du CSIRT voit qui traite déjà quoi — impossible de doubler un dossier sans le savoir.</a:t>
            </a:r>
            <a:endParaRPr lang="en-US" sz="1300" dirty="0"/>
          </a:p>
        </p:txBody>
      </p:sp>
      <p:sp>
        <p:nvSpPr>
          <p:cNvPr id="19" name="Shape 17"/>
          <p:cNvSpPr/>
          <p:nvPr/>
        </p:nvSpPr>
        <p:spPr>
          <a:xfrm>
            <a:off x="640080" y="5074920"/>
            <a:ext cx="594360" cy="594360"/>
          </a:xfrm>
          <a:prstGeom prst="ellipse">
            <a:avLst/>
          </a:prstGeom>
          <a:solidFill>
            <a:srgbClr val="C49428"/>
          </a:solidFill>
          <a:ln/>
        </p:spPr>
      </p:sp>
      <p:sp>
        <p:nvSpPr>
          <p:cNvPr id="20" name="Text 18"/>
          <p:cNvSpPr/>
          <p:nvPr/>
        </p:nvSpPr>
        <p:spPr>
          <a:xfrm>
            <a:off x="640080" y="5056632"/>
            <a:ext cx="594360" cy="594360"/>
          </a:xfrm>
          <a:prstGeom prst="rect">
            <a:avLst/>
          </a:prstGeom>
          <a:noFill/>
          <a:ln/>
        </p:spPr>
        <p:txBody>
          <a:bodyPr wrap="square" rtlCol="0" anchor="ctr"/>
          <a:lstStyle/>
          <a:p>
            <a:pPr marL="0" indent="0" algn="ctr">
              <a:buNone/>
            </a:pPr>
            <a:r>
              <a:rPr lang="en-US" sz="1690" b="1" dirty="0">
                <a:solidFill>
                  <a:srgbClr val="FFFFFF"/>
                </a:solidFill>
                <a:latin typeface="Calibri" pitchFamily="34" charset="0"/>
                <a:ea typeface="Calibri" pitchFamily="34" charset="-122"/>
                <a:cs typeface="Calibri" pitchFamily="34" charset="-120"/>
              </a:rPr>
              <a:t>4</a:t>
            </a:r>
            <a:endParaRPr lang="en-US" sz="1690" dirty="0"/>
          </a:p>
        </p:txBody>
      </p:sp>
      <p:sp>
        <p:nvSpPr>
          <p:cNvPr id="21" name="Text 19"/>
          <p:cNvSpPr/>
          <p:nvPr/>
        </p:nvSpPr>
        <p:spPr>
          <a:xfrm>
            <a:off x="1463040" y="5056632"/>
            <a:ext cx="3291840" cy="594360"/>
          </a:xfrm>
          <a:prstGeom prst="rect">
            <a:avLst/>
          </a:prstGeom>
          <a:noFill/>
          <a:ln/>
        </p:spPr>
        <p:txBody>
          <a:bodyPr wrap="square" rtlCol="0" anchor="ctr"/>
          <a:lstStyle/>
          <a:p>
            <a:pPr marL="0" indent="0">
              <a:buNone/>
            </a:pPr>
            <a:r>
              <a:rPr lang="en-US" sz="1600" b="1" dirty="0">
                <a:solidFill>
                  <a:srgbClr val="0D213B"/>
                </a:solidFill>
                <a:latin typeface="Cambria" pitchFamily="34" charset="0"/>
                <a:ea typeface="Cambria" pitchFamily="34" charset="-122"/>
                <a:cs typeface="Cambria" pitchFamily="34" charset="-120"/>
              </a:rPr>
              <a:t>Assignation formelle</a:t>
            </a:r>
            <a:endParaRPr lang="en-US" sz="1600" dirty="0"/>
          </a:p>
        </p:txBody>
      </p:sp>
      <p:sp>
        <p:nvSpPr>
          <p:cNvPr id="22" name="Text 20"/>
          <p:cNvSpPr/>
          <p:nvPr/>
        </p:nvSpPr>
        <p:spPr>
          <a:xfrm>
            <a:off x="4846320" y="5056632"/>
            <a:ext cx="6492240" cy="640080"/>
          </a:xfrm>
          <a:prstGeom prst="rect">
            <a:avLst/>
          </a:prstGeom>
          <a:noFill/>
          <a:ln/>
        </p:spPr>
        <p:txBody>
          <a:bodyPr wrap="square" rtlCol="0" anchor="ctr"/>
          <a:lstStyle/>
          <a:p>
            <a:pPr marL="0" indent="0">
              <a:lnSpc>
                <a:spcPts val="1700"/>
              </a:lnSpc>
              <a:buNone/>
            </a:pPr>
            <a:r>
              <a:rPr lang="en-US" sz="1300" dirty="0">
                <a:solidFill>
                  <a:srgbClr val="3B4450"/>
                </a:solidFill>
                <a:latin typeface="Calibri" pitchFamily="34" charset="0"/>
                <a:ea typeface="Calibri" pitchFamily="34" charset="-122"/>
                <a:cs typeface="Calibri" pitchFamily="34" charset="-120"/>
              </a:rPr>
              <a:t>Seuls le Coordinateur et les Analystes CSIRT peuvent assigner un dossier à quelqu'un.</a:t>
            </a:r>
            <a:endParaRPr lang="en-US" sz="1300" dirty="0"/>
          </a:p>
        </p:txBody>
      </p:sp>
      <p:sp>
        <p:nvSpPr>
          <p:cNvPr id="23" name="Text 21"/>
          <p:cNvSpPr/>
          <p:nvPr/>
        </p:nvSpPr>
        <p:spPr>
          <a:xfrm>
            <a:off x="640080" y="6126480"/>
            <a:ext cx="10881360" cy="502920"/>
          </a:xfrm>
          <a:prstGeom prst="rect">
            <a:avLst/>
          </a:prstGeom>
          <a:noFill/>
          <a:ln/>
        </p:spPr>
        <p:txBody>
          <a:bodyPr wrap="square" rtlCol="0" anchor="ctr"/>
          <a:lstStyle/>
          <a:p>
            <a:pPr marL="0" indent="0">
              <a:buNone/>
            </a:pPr>
            <a:r>
              <a:rPr lang="en-US" sz="1200" i="1" dirty="0">
                <a:solidFill>
                  <a:srgbClr val="6E7884"/>
                </a:solidFill>
                <a:latin typeface="Calibri" pitchFamily="34" charset="0"/>
                <a:ea typeface="Calibri" pitchFamily="34" charset="-122"/>
                <a:cs typeface="Calibri" pitchFamily="34" charset="-120"/>
              </a:rPr>
              <a:t>Seule l'étape 1 (soumission) est automatique. Toutes les suivantes, y compris « Reçu » et « Accusé de réception », exigent un clic explicite d'un membre du CSIRT — aucun délai ne les déclenche tout seul.</a:t>
            </a:r>
            <a:endParaRPr lang="en-US" sz="1200" dirty="0"/>
          </a:p>
        </p:txBody>
      </p:sp>
      <p:sp>
        <p:nvSpPr>
          <p:cNvPr id="24" name="Text 22"/>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ÉTAPE 3</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Le triage : sévérité, CVSS et CWE</a:t>
            </a:r>
            <a:endParaRPr lang="en-US" sz="3200" dirty="0"/>
          </a:p>
        </p:txBody>
      </p:sp>
      <p:sp>
        <p:nvSpPr>
          <p:cNvPr id="4" name="Text 2"/>
          <p:cNvSpPr/>
          <p:nvPr/>
        </p:nvSpPr>
        <p:spPr>
          <a:xfrm>
            <a:off x="640080" y="1554480"/>
            <a:ext cx="10881360" cy="548640"/>
          </a:xfrm>
          <a:prstGeom prst="rect">
            <a:avLst/>
          </a:prstGeom>
          <a:noFill/>
          <a:ln/>
        </p:spPr>
        <p:txBody>
          <a:bodyPr wrap="square" rtlCol="0" anchor="ctr"/>
          <a:lstStyle/>
          <a:p>
            <a:pPr marL="0" indent="0">
              <a:lnSpc>
                <a:spcPts val="1800"/>
              </a:lnSpc>
              <a:buNone/>
            </a:pPr>
            <a:r>
              <a:rPr lang="en-US" sz="1350" dirty="0">
                <a:solidFill>
                  <a:srgbClr val="3B4450"/>
                </a:solidFill>
                <a:latin typeface="Calibri" pitchFamily="34" charset="0"/>
                <a:ea typeface="Calibri" pitchFamily="34" charset="-122"/>
                <a:cs typeface="Calibri" pitchFamily="34" charset="-120"/>
              </a:rPr>
              <a:t>Le score CVSS v3.1 est calculé localement par la plateforme (spécification officielle FIRST, aucun appel externe), puis traduit automatiquement en sévérité.</a:t>
            </a:r>
            <a:endParaRPr lang="en-US" sz="1350" dirty="0"/>
          </a:p>
        </p:txBody>
      </p:sp>
      <p:sp>
        <p:nvSpPr>
          <p:cNvPr id="5" name="Shape 3"/>
          <p:cNvSpPr/>
          <p:nvPr/>
        </p:nvSpPr>
        <p:spPr>
          <a:xfrm>
            <a:off x="640080" y="2468880"/>
            <a:ext cx="1965960" cy="1463040"/>
          </a:xfrm>
          <a:prstGeom prst="roundRect">
            <a:avLst>
              <a:gd name="adj" fmla="val 5000"/>
            </a:avLst>
          </a:prstGeom>
          <a:solidFill>
            <a:srgbClr val="B03A3A"/>
          </a:solidFill>
          <a:ln/>
        </p:spPr>
      </p:sp>
      <p:sp>
        <p:nvSpPr>
          <p:cNvPr id="6" name="Text 4"/>
          <p:cNvSpPr/>
          <p:nvPr/>
        </p:nvSpPr>
        <p:spPr>
          <a:xfrm>
            <a:off x="640080" y="2670048"/>
            <a:ext cx="19659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9.0 - 10.0</a:t>
            </a:r>
            <a:endParaRPr lang="en-US" sz="1200" dirty="0"/>
          </a:p>
        </p:txBody>
      </p:sp>
      <p:sp>
        <p:nvSpPr>
          <p:cNvPr id="7" name="Text 5"/>
          <p:cNvSpPr/>
          <p:nvPr/>
        </p:nvSpPr>
        <p:spPr>
          <a:xfrm>
            <a:off x="640080" y="3154680"/>
            <a:ext cx="196596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Critique</a:t>
            </a:r>
            <a:endParaRPr lang="en-US" sz="1500" dirty="0"/>
          </a:p>
        </p:txBody>
      </p:sp>
      <p:sp>
        <p:nvSpPr>
          <p:cNvPr id="8" name="Shape 6"/>
          <p:cNvSpPr/>
          <p:nvPr/>
        </p:nvSpPr>
        <p:spPr>
          <a:xfrm>
            <a:off x="2743200" y="2468880"/>
            <a:ext cx="1965960" cy="1463040"/>
          </a:xfrm>
          <a:prstGeom prst="roundRect">
            <a:avLst>
              <a:gd name="adj" fmla="val 5000"/>
            </a:avLst>
          </a:prstGeom>
          <a:solidFill>
            <a:srgbClr val="D97A2E"/>
          </a:solidFill>
          <a:ln/>
        </p:spPr>
      </p:sp>
      <p:sp>
        <p:nvSpPr>
          <p:cNvPr id="9" name="Text 7"/>
          <p:cNvSpPr/>
          <p:nvPr/>
        </p:nvSpPr>
        <p:spPr>
          <a:xfrm>
            <a:off x="2743200" y="2670048"/>
            <a:ext cx="19659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7.0 - 8.9</a:t>
            </a:r>
            <a:endParaRPr lang="en-US" sz="1200" dirty="0"/>
          </a:p>
        </p:txBody>
      </p:sp>
      <p:sp>
        <p:nvSpPr>
          <p:cNvPr id="10" name="Text 8"/>
          <p:cNvSpPr/>
          <p:nvPr/>
        </p:nvSpPr>
        <p:spPr>
          <a:xfrm>
            <a:off x="2743200" y="3154680"/>
            <a:ext cx="196596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Élevée</a:t>
            </a:r>
            <a:endParaRPr lang="en-US" sz="1500" dirty="0"/>
          </a:p>
        </p:txBody>
      </p:sp>
      <p:sp>
        <p:nvSpPr>
          <p:cNvPr id="11" name="Shape 9"/>
          <p:cNvSpPr/>
          <p:nvPr/>
        </p:nvSpPr>
        <p:spPr>
          <a:xfrm>
            <a:off x="4846320" y="2468880"/>
            <a:ext cx="1965960" cy="1463040"/>
          </a:xfrm>
          <a:prstGeom prst="roundRect">
            <a:avLst>
              <a:gd name="adj" fmla="val 5000"/>
            </a:avLst>
          </a:prstGeom>
          <a:solidFill>
            <a:srgbClr val="C49428"/>
          </a:solidFill>
          <a:ln/>
        </p:spPr>
      </p:sp>
      <p:sp>
        <p:nvSpPr>
          <p:cNvPr id="12" name="Text 10"/>
          <p:cNvSpPr/>
          <p:nvPr/>
        </p:nvSpPr>
        <p:spPr>
          <a:xfrm>
            <a:off x="4846320" y="2670048"/>
            <a:ext cx="19659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4.0 - 6.9</a:t>
            </a:r>
            <a:endParaRPr lang="en-US" sz="1200" dirty="0"/>
          </a:p>
        </p:txBody>
      </p:sp>
      <p:sp>
        <p:nvSpPr>
          <p:cNvPr id="13" name="Text 11"/>
          <p:cNvSpPr/>
          <p:nvPr/>
        </p:nvSpPr>
        <p:spPr>
          <a:xfrm>
            <a:off x="4846320" y="3154680"/>
            <a:ext cx="196596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Moyenne</a:t>
            </a:r>
            <a:endParaRPr lang="en-US" sz="1500" dirty="0"/>
          </a:p>
        </p:txBody>
      </p:sp>
      <p:sp>
        <p:nvSpPr>
          <p:cNvPr id="14" name="Shape 12"/>
          <p:cNvSpPr/>
          <p:nvPr/>
        </p:nvSpPr>
        <p:spPr>
          <a:xfrm>
            <a:off x="6949440" y="2468880"/>
            <a:ext cx="1965960" cy="1463040"/>
          </a:xfrm>
          <a:prstGeom prst="roundRect">
            <a:avLst>
              <a:gd name="adj" fmla="val 5000"/>
            </a:avLst>
          </a:prstGeom>
          <a:solidFill>
            <a:srgbClr val="0D7A5F"/>
          </a:solidFill>
          <a:ln/>
        </p:spPr>
      </p:sp>
      <p:sp>
        <p:nvSpPr>
          <p:cNvPr id="15" name="Text 13"/>
          <p:cNvSpPr/>
          <p:nvPr/>
        </p:nvSpPr>
        <p:spPr>
          <a:xfrm>
            <a:off x="6949440" y="2670048"/>
            <a:ext cx="19659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0.1 - 3.9</a:t>
            </a:r>
            <a:endParaRPr lang="en-US" sz="1200" dirty="0"/>
          </a:p>
        </p:txBody>
      </p:sp>
      <p:sp>
        <p:nvSpPr>
          <p:cNvPr id="16" name="Text 14"/>
          <p:cNvSpPr/>
          <p:nvPr/>
        </p:nvSpPr>
        <p:spPr>
          <a:xfrm>
            <a:off x="6949440" y="3154680"/>
            <a:ext cx="196596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Faible</a:t>
            </a:r>
            <a:endParaRPr lang="en-US" sz="1500" dirty="0"/>
          </a:p>
        </p:txBody>
      </p:sp>
      <p:sp>
        <p:nvSpPr>
          <p:cNvPr id="17" name="Shape 15"/>
          <p:cNvSpPr/>
          <p:nvPr/>
        </p:nvSpPr>
        <p:spPr>
          <a:xfrm>
            <a:off x="9052560" y="2468880"/>
            <a:ext cx="1965960" cy="1463040"/>
          </a:xfrm>
          <a:prstGeom prst="roundRect">
            <a:avLst>
              <a:gd name="adj" fmla="val 5000"/>
            </a:avLst>
          </a:prstGeom>
          <a:solidFill>
            <a:srgbClr val="6E7884"/>
          </a:solidFill>
          <a:ln/>
        </p:spPr>
      </p:sp>
      <p:sp>
        <p:nvSpPr>
          <p:cNvPr id="18" name="Text 16"/>
          <p:cNvSpPr/>
          <p:nvPr/>
        </p:nvSpPr>
        <p:spPr>
          <a:xfrm>
            <a:off x="9052560" y="2670048"/>
            <a:ext cx="19659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a:t>
            </a:r>
            <a:endParaRPr lang="en-US" sz="1200" dirty="0"/>
          </a:p>
        </p:txBody>
      </p:sp>
      <p:sp>
        <p:nvSpPr>
          <p:cNvPr id="19" name="Text 17"/>
          <p:cNvSpPr/>
          <p:nvPr/>
        </p:nvSpPr>
        <p:spPr>
          <a:xfrm>
            <a:off x="9052560" y="3154680"/>
            <a:ext cx="196596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Informative</a:t>
            </a:r>
            <a:endParaRPr lang="en-US" sz="1500" dirty="0"/>
          </a:p>
        </p:txBody>
      </p:sp>
      <p:sp>
        <p:nvSpPr>
          <p:cNvPr id="20" name="Shape 18"/>
          <p:cNvSpPr/>
          <p:nvPr/>
        </p:nvSpPr>
        <p:spPr>
          <a:xfrm>
            <a:off x="640080" y="4343400"/>
            <a:ext cx="10927080" cy="1828800"/>
          </a:xfrm>
          <a:prstGeom prst="roundRect">
            <a:avLst>
              <a:gd name="adj" fmla="val 4500"/>
            </a:avLst>
          </a:prstGeom>
          <a:solidFill>
            <a:srgbClr val="F6F8F9"/>
          </a:solidFill>
          <a:ln w="12700">
            <a:solidFill>
              <a:srgbClr val="DFE3E8"/>
            </a:solidFill>
            <a:prstDash val="solid"/>
          </a:ln>
        </p:spPr>
      </p:sp>
      <p:sp>
        <p:nvSpPr>
          <p:cNvPr id="21" name="Text 19"/>
          <p:cNvSpPr/>
          <p:nvPr/>
        </p:nvSpPr>
        <p:spPr>
          <a:xfrm>
            <a:off x="914400" y="4526280"/>
            <a:ext cx="7315200" cy="365760"/>
          </a:xfrm>
          <a:prstGeom prst="rect">
            <a:avLst/>
          </a:prstGeom>
          <a:noFill/>
          <a:ln/>
        </p:spPr>
        <p:txBody>
          <a:bodyPr wrap="square" rtlCol="0" anchor="ctr"/>
          <a:lstStyle/>
          <a:p>
            <a:pPr marL="0" indent="0">
              <a:buNone/>
            </a:pPr>
            <a:r>
              <a:rPr lang="en-US" sz="1500" b="1" dirty="0">
                <a:solidFill>
                  <a:srgbClr val="0D213B"/>
                </a:solidFill>
                <a:latin typeface="Cambria" pitchFamily="34" charset="0"/>
                <a:ea typeface="Cambria" pitchFamily="34" charset="-122"/>
                <a:cs typeface="Cambria" pitchFamily="34" charset="-120"/>
              </a:rPr>
              <a:t>Qui peut trier et fixer la sévérité ?</a:t>
            </a:r>
            <a:endParaRPr lang="en-US" sz="1500" dirty="0"/>
          </a:p>
        </p:txBody>
      </p:sp>
      <p:sp>
        <p:nvSpPr>
          <p:cNvPr id="22" name="Text 20"/>
          <p:cNvSpPr/>
          <p:nvPr/>
        </p:nvSpPr>
        <p:spPr>
          <a:xfrm>
            <a:off x="914400" y="4937760"/>
            <a:ext cx="10332720" cy="1005840"/>
          </a:xfrm>
          <a:prstGeom prst="rect">
            <a:avLst/>
          </a:prstGeom>
          <a:noFill/>
          <a:ln/>
        </p:spPr>
        <p:txBody>
          <a:bodyPr wrap="square" rtlCol="0" anchor="ctr"/>
          <a:lstStyle/>
          <a:p>
            <a:pPr marL="0" indent="0">
              <a:lnSpc>
                <a:spcPts val="1800"/>
              </a:lnSpc>
              <a:buNone/>
            </a:pPr>
            <a:r>
              <a:rPr lang="en-US" sz="1300" dirty="0">
                <a:solidFill>
                  <a:srgbClr val="3B4450"/>
                </a:solidFill>
                <a:latin typeface="Calibri" pitchFamily="34" charset="0"/>
                <a:ea typeface="Calibri" pitchFamily="34" charset="-122"/>
                <a:cs typeface="Calibri" pitchFamily="34" charset="-120"/>
              </a:rPr>
              <a:t>Coordinateur national, Analyste CSIRT, Agent de triage — et personne d'autre. La catégorie CWE (type de faille) n'est jamais un texte libre : c'est une liste de référence fixe (« CWE-XXX »), garante de statistiques cohérentes.</a:t>
            </a:r>
            <a:endParaRPr lang="en-US" sz="1300" dirty="0"/>
          </a:p>
        </p:txBody>
      </p:sp>
      <p:sp>
        <p:nvSpPr>
          <p:cNvPr id="23" name="Text 21"/>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9"/>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ÉTAPE 4</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Comment un dossier rejoint une organisation ?</a:t>
            </a:r>
            <a:endParaRPr lang="en-US" sz="3200" dirty="0"/>
          </a:p>
        </p:txBody>
      </p:sp>
      <p:sp>
        <p:nvSpPr>
          <p:cNvPr id="4" name="Shape 2"/>
          <p:cNvSpPr/>
          <p:nvPr/>
        </p:nvSpPr>
        <p:spPr>
          <a:xfrm>
            <a:off x="640080" y="1828800"/>
            <a:ext cx="5257800" cy="2011680"/>
          </a:xfrm>
          <a:prstGeom prst="roundRect">
            <a:avLst>
              <a:gd name="adj" fmla="val 4091"/>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5" name="Shape 3"/>
          <p:cNvSpPr/>
          <p:nvPr/>
        </p:nvSpPr>
        <p:spPr>
          <a:xfrm>
            <a:off x="960120" y="2148840"/>
            <a:ext cx="502920" cy="502920"/>
          </a:xfrm>
          <a:prstGeom prst="ellipse">
            <a:avLst/>
          </a:prstGeom>
          <a:solidFill>
            <a:srgbClr val="0D7A5F"/>
          </a:solidFill>
          <a:ln/>
        </p:spPr>
      </p:sp>
      <p:sp>
        <p:nvSpPr>
          <p:cNvPr id="6" name="Text 4"/>
          <p:cNvSpPr/>
          <p:nvPr/>
        </p:nvSpPr>
        <p:spPr>
          <a:xfrm>
            <a:off x="960120" y="2130552"/>
            <a:ext cx="502920" cy="502920"/>
          </a:xfrm>
          <a:prstGeom prst="rect">
            <a:avLst/>
          </a:prstGeom>
          <a:noFill/>
          <a:ln/>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7" name="Text 5"/>
          <p:cNvSpPr/>
          <p:nvPr/>
        </p:nvSpPr>
        <p:spPr>
          <a:xfrm>
            <a:off x="1645920" y="2103120"/>
            <a:ext cx="3977640" cy="457200"/>
          </a:xfrm>
          <a:prstGeom prst="rect">
            <a:avLst/>
          </a:prstGeom>
          <a:noFill/>
          <a:ln/>
        </p:spPr>
        <p:txBody>
          <a:bodyPr wrap="square" rtlCol="0" anchor="ctr"/>
          <a:lstStyle/>
          <a:p>
            <a:pPr marL="0" indent="0">
              <a:buNone/>
            </a:pPr>
            <a:r>
              <a:rPr lang="en-US" sz="1600" b="1" dirty="0">
                <a:solidFill>
                  <a:srgbClr val="0D213B"/>
                </a:solidFill>
                <a:latin typeface="Cambria" pitchFamily="34" charset="0"/>
                <a:ea typeface="Cambria" pitchFamily="34" charset="-122"/>
                <a:cs typeface="Cambria" pitchFamily="34" charset="-120"/>
              </a:rPr>
              <a:t>À la soumission</a:t>
            </a:r>
            <a:endParaRPr lang="en-US" sz="1600" dirty="0"/>
          </a:p>
        </p:txBody>
      </p:sp>
      <p:sp>
        <p:nvSpPr>
          <p:cNvPr id="8" name="Text 6"/>
          <p:cNvSpPr/>
          <p:nvPr/>
        </p:nvSpPr>
        <p:spPr>
          <a:xfrm>
            <a:off x="960120" y="2788920"/>
            <a:ext cx="4617720" cy="914400"/>
          </a:xfrm>
          <a:prstGeom prst="rect">
            <a:avLst/>
          </a:prstGeom>
          <a:noFill/>
          <a:ln/>
        </p:spPr>
        <p:txBody>
          <a:bodyPr wrap="square" rtlCol="0" anchor="ctr"/>
          <a:lstStyle/>
          <a:p>
            <a:pPr marL="0" indent="0">
              <a:lnSpc>
                <a:spcPts val="1700"/>
              </a:lnSpc>
              <a:buNone/>
            </a:pPr>
            <a:r>
              <a:rPr lang="en-US" sz="1300" dirty="0">
                <a:solidFill>
                  <a:srgbClr val="3B4450"/>
                </a:solidFill>
                <a:latin typeface="Calibri" pitchFamily="34" charset="0"/>
                <a:ea typeface="Calibri" pitchFamily="34" charset="-122"/>
                <a:cs typeface="Calibri" pitchFamily="34" charset="-120"/>
              </a:rPr>
              <a:t>Organisation choisie explicitement par le déclarant, ou organisation propriétaire du programme visé.</a:t>
            </a:r>
            <a:endParaRPr lang="en-US" sz="1300" dirty="0"/>
          </a:p>
        </p:txBody>
      </p:sp>
      <p:sp>
        <p:nvSpPr>
          <p:cNvPr id="9" name="Shape 7"/>
          <p:cNvSpPr/>
          <p:nvPr/>
        </p:nvSpPr>
        <p:spPr>
          <a:xfrm>
            <a:off x="6309360" y="1828800"/>
            <a:ext cx="5257800" cy="2011680"/>
          </a:xfrm>
          <a:prstGeom prst="roundRect">
            <a:avLst>
              <a:gd name="adj" fmla="val 4091"/>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10" name="Shape 8"/>
          <p:cNvSpPr/>
          <p:nvPr/>
        </p:nvSpPr>
        <p:spPr>
          <a:xfrm>
            <a:off x="6629400" y="2148840"/>
            <a:ext cx="502920" cy="502920"/>
          </a:xfrm>
          <a:prstGeom prst="ellipse">
            <a:avLst/>
          </a:prstGeom>
          <a:solidFill>
            <a:srgbClr val="C49428"/>
          </a:solidFill>
          <a:ln/>
        </p:spPr>
      </p:sp>
      <p:sp>
        <p:nvSpPr>
          <p:cNvPr id="11" name="Text 9"/>
          <p:cNvSpPr/>
          <p:nvPr/>
        </p:nvSpPr>
        <p:spPr>
          <a:xfrm>
            <a:off x="6629400" y="2130552"/>
            <a:ext cx="502920" cy="502920"/>
          </a:xfrm>
          <a:prstGeom prst="rect">
            <a:avLst/>
          </a:prstGeom>
          <a:noFill/>
          <a:ln/>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2</a:t>
            </a:r>
            <a:endParaRPr lang="en-US" sz="1430" dirty="0"/>
          </a:p>
        </p:txBody>
      </p:sp>
      <p:sp>
        <p:nvSpPr>
          <p:cNvPr id="12" name="Text 10"/>
          <p:cNvSpPr/>
          <p:nvPr/>
        </p:nvSpPr>
        <p:spPr>
          <a:xfrm>
            <a:off x="7315200" y="2103120"/>
            <a:ext cx="3977640" cy="457200"/>
          </a:xfrm>
          <a:prstGeom prst="rect">
            <a:avLst/>
          </a:prstGeom>
          <a:noFill/>
          <a:ln/>
        </p:spPr>
        <p:txBody>
          <a:bodyPr wrap="square" rtlCol="0" anchor="ctr"/>
          <a:lstStyle/>
          <a:p>
            <a:pPr marL="0" indent="0">
              <a:buNone/>
            </a:pPr>
            <a:r>
              <a:rPr lang="en-US" sz="1600" b="1" dirty="0">
                <a:solidFill>
                  <a:srgbClr val="0D213B"/>
                </a:solidFill>
                <a:latin typeface="Cambria" pitchFamily="34" charset="0"/>
                <a:ea typeface="Cambria" pitchFamily="34" charset="-122"/>
                <a:cs typeface="Cambria" pitchFamily="34" charset="-120"/>
              </a:rPr>
              <a:t>Lors du triage</a:t>
            </a:r>
            <a:endParaRPr lang="en-US" sz="1600" dirty="0"/>
          </a:p>
        </p:txBody>
      </p:sp>
      <p:sp>
        <p:nvSpPr>
          <p:cNvPr id="13" name="Text 11"/>
          <p:cNvSpPr/>
          <p:nvPr/>
        </p:nvSpPr>
        <p:spPr>
          <a:xfrm>
            <a:off x="6629400" y="2788920"/>
            <a:ext cx="4617720" cy="914400"/>
          </a:xfrm>
          <a:prstGeom prst="rect">
            <a:avLst/>
          </a:prstGeom>
          <a:noFill/>
          <a:ln/>
        </p:spPr>
        <p:txBody>
          <a:bodyPr wrap="square" rtlCol="0" anchor="ctr"/>
          <a:lstStyle/>
          <a:p>
            <a:pPr marL="0" indent="0">
              <a:lnSpc>
                <a:spcPts val="1700"/>
              </a:lnSpc>
              <a:buNone/>
            </a:pPr>
            <a:r>
              <a:rPr lang="en-US" sz="1300" dirty="0">
                <a:solidFill>
                  <a:srgbClr val="3B4450"/>
                </a:solidFill>
                <a:latin typeface="Calibri" pitchFamily="34" charset="0"/>
                <a:ea typeface="Calibri" pitchFamily="34" charset="-122"/>
                <a:cs typeface="Calibri" pitchFamily="34" charset="-120"/>
              </a:rPr>
              <a:t>Réattribution manuelle possible par le CSIRT si aucune organisation n'a pu être déterminée automatiquement.</a:t>
            </a:r>
            <a:endParaRPr lang="en-US" sz="1300" dirty="0"/>
          </a:p>
        </p:txBody>
      </p:sp>
      <p:sp>
        <p:nvSpPr>
          <p:cNvPr id="14" name="Shape 12"/>
          <p:cNvSpPr/>
          <p:nvPr/>
        </p:nvSpPr>
        <p:spPr>
          <a:xfrm>
            <a:off x="640080" y="4114800"/>
            <a:ext cx="10927080" cy="2011680"/>
          </a:xfrm>
          <a:prstGeom prst="roundRect">
            <a:avLst>
              <a:gd name="adj" fmla="val 4091"/>
            </a:avLst>
          </a:prstGeom>
          <a:solidFill>
            <a:srgbClr val="0D213B"/>
          </a:solidFill>
          <a:ln w="12700">
            <a:solidFill>
              <a:srgbClr val="DFE3E8"/>
            </a:solidFill>
            <a:prstDash val="solid"/>
          </a:ln>
        </p:spPr>
      </p:sp>
      <p:sp>
        <p:nvSpPr>
          <p:cNvPr id="15" name="Text 13"/>
          <p:cNvSpPr/>
          <p:nvPr/>
        </p:nvSpPr>
        <p:spPr>
          <a:xfrm>
            <a:off x="1005840" y="4343400"/>
            <a:ext cx="996696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Aucun rapprochement automatique par produit</a:t>
            </a:r>
            <a:endParaRPr lang="en-US" sz="1600" dirty="0"/>
          </a:p>
        </p:txBody>
      </p:sp>
      <p:sp>
        <p:nvSpPr>
          <p:cNvPr id="16" name="Text 14"/>
          <p:cNvSpPr/>
          <p:nvPr/>
        </p:nvSpPr>
        <p:spPr>
          <a:xfrm>
            <a:off x="1005840" y="4846320"/>
            <a:ext cx="9966960" cy="1097280"/>
          </a:xfrm>
          <a:prstGeom prst="rect">
            <a:avLst/>
          </a:prstGeom>
          <a:noFill/>
          <a:ln/>
        </p:spPr>
        <p:txBody>
          <a:bodyPr wrap="square" rtlCol="0" anchor="ctr"/>
          <a:lstStyle/>
          <a:p>
            <a:pPr marL="0" indent="0">
              <a:lnSpc>
                <a:spcPts val="1800"/>
              </a:lnSpc>
              <a:buNone/>
            </a:pPr>
            <a:r>
              <a:rPr lang="en-US" sz="1350" dirty="0">
                <a:solidFill>
                  <a:srgbClr val="D8E1EA"/>
                </a:solidFill>
                <a:latin typeface="Calibri" pitchFamily="34" charset="0"/>
                <a:ea typeface="Calibri" pitchFamily="34" charset="-122"/>
                <a:cs typeface="Calibri" pitchFamily="34" charset="-120"/>
              </a:rPr>
              <a:t>Dès qu'une organisation est connue sur le dossier, ses membres responsables, DSI ou contacts sécurité sont automatiquement ajoutés comme participants — sans action manuelle du CSIRT.</a:t>
            </a:r>
            <a:endParaRPr lang="en-US" sz="1350" dirty="0"/>
          </a:p>
        </p:txBody>
      </p:sp>
      <p:sp>
        <p:nvSpPr>
          <p:cNvPr id="17" name="Text 15"/>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ÉTAPE 5</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Ce que l'organisation peut faire — et ne peut pas faire</a:t>
            </a:r>
            <a:endParaRPr lang="en-US" sz="3200" dirty="0"/>
          </a:p>
        </p:txBody>
      </p:sp>
      <p:sp>
        <p:nvSpPr>
          <p:cNvPr id="4" name="Shape 2"/>
          <p:cNvSpPr/>
          <p:nvPr/>
        </p:nvSpPr>
        <p:spPr>
          <a:xfrm>
            <a:off x="640080" y="1737360"/>
            <a:ext cx="5257800" cy="4297680"/>
          </a:xfrm>
          <a:prstGeom prst="roundRect">
            <a:avLst>
              <a:gd name="adj" fmla="val 1915"/>
            </a:avLst>
          </a:prstGeom>
          <a:solidFill>
            <a:srgbClr val="DBF2EA"/>
          </a:solidFill>
          <a:ln w="12700">
            <a:solidFill>
              <a:srgbClr val="0D7A5F"/>
            </a:solidFill>
            <a:prstDash val="solid"/>
          </a:ln>
        </p:spPr>
      </p:sp>
      <p:sp>
        <p:nvSpPr>
          <p:cNvPr id="5" name="Text 3"/>
          <p:cNvSpPr/>
          <p:nvPr/>
        </p:nvSpPr>
        <p:spPr>
          <a:xfrm>
            <a:off x="960120" y="2011680"/>
            <a:ext cx="3657600" cy="457200"/>
          </a:xfrm>
          <a:prstGeom prst="rect">
            <a:avLst/>
          </a:prstGeom>
          <a:noFill/>
          <a:ln/>
        </p:spPr>
        <p:txBody>
          <a:bodyPr wrap="square" rtlCol="0" anchor="ctr"/>
          <a:lstStyle/>
          <a:p>
            <a:pPr marL="0" indent="0">
              <a:buNone/>
            </a:pPr>
            <a:r>
              <a:rPr lang="en-US" sz="1800" b="1" dirty="0">
                <a:solidFill>
                  <a:srgbClr val="0D7A5F"/>
                </a:solidFill>
                <a:latin typeface="Cambria" pitchFamily="34" charset="0"/>
                <a:ea typeface="Cambria" pitchFamily="34" charset="-122"/>
                <a:cs typeface="Cambria" pitchFamily="34" charset="-120"/>
              </a:rPr>
              <a:t>PEUT</a:t>
            </a:r>
            <a:endParaRPr lang="en-US" sz="1800" dirty="0"/>
          </a:p>
        </p:txBody>
      </p:sp>
      <p:sp>
        <p:nvSpPr>
          <p:cNvPr id="6" name="Shape 4"/>
          <p:cNvSpPr/>
          <p:nvPr/>
        </p:nvSpPr>
        <p:spPr>
          <a:xfrm>
            <a:off x="960120" y="2651760"/>
            <a:ext cx="274320" cy="274320"/>
          </a:xfrm>
          <a:prstGeom prst="ellipse">
            <a:avLst/>
          </a:prstGeom>
          <a:solidFill>
            <a:srgbClr val="0D7A5F"/>
          </a:solidFill>
          <a:ln/>
        </p:spPr>
      </p:sp>
      <p:sp>
        <p:nvSpPr>
          <p:cNvPr id="7" name="Text 5"/>
          <p:cNvSpPr/>
          <p:nvPr/>
        </p:nvSpPr>
        <p:spPr>
          <a:xfrm>
            <a:off x="960120" y="2633472"/>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8" name="Text 6"/>
          <p:cNvSpPr/>
          <p:nvPr/>
        </p:nvSpPr>
        <p:spPr>
          <a:xfrm>
            <a:off x="1417320" y="2578608"/>
            <a:ext cx="4160520" cy="685800"/>
          </a:xfrm>
          <a:prstGeom prst="rect">
            <a:avLst/>
          </a:prstGeom>
          <a:noFill/>
          <a:ln/>
        </p:spPr>
        <p:txBody>
          <a:bodyPr wrap="square" rtlCol="0" anchor="ctr"/>
          <a:lstStyle/>
          <a:p>
            <a:pPr marL="0" indent="0">
              <a:lnSpc>
                <a:spcPts val="1600"/>
              </a:lnSpc>
              <a:buNone/>
            </a:pPr>
            <a:r>
              <a:rPr lang="en-US" sz="1250" dirty="0">
                <a:solidFill>
                  <a:srgbClr val="0D213B"/>
                </a:solidFill>
                <a:latin typeface="Calibri" pitchFamily="34" charset="0"/>
                <a:ea typeface="Calibri" pitchFamily="34" charset="-122"/>
                <a:cs typeface="Calibri" pitchFamily="34" charset="-120"/>
              </a:rPr>
              <a:t>Voir les dossiers de sa propre organisation</a:t>
            </a:r>
            <a:endParaRPr lang="en-US" sz="1250" dirty="0"/>
          </a:p>
        </p:txBody>
      </p:sp>
      <p:sp>
        <p:nvSpPr>
          <p:cNvPr id="9" name="Shape 7"/>
          <p:cNvSpPr/>
          <p:nvPr/>
        </p:nvSpPr>
        <p:spPr>
          <a:xfrm>
            <a:off x="960120" y="3493008"/>
            <a:ext cx="274320" cy="274320"/>
          </a:xfrm>
          <a:prstGeom prst="ellipse">
            <a:avLst/>
          </a:prstGeom>
          <a:solidFill>
            <a:srgbClr val="0D7A5F"/>
          </a:solidFill>
          <a:ln/>
        </p:spPr>
      </p:sp>
      <p:sp>
        <p:nvSpPr>
          <p:cNvPr id="10" name="Text 8"/>
          <p:cNvSpPr/>
          <p:nvPr/>
        </p:nvSpPr>
        <p:spPr>
          <a:xfrm>
            <a:off x="960120" y="3474720"/>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11" name="Text 9"/>
          <p:cNvSpPr/>
          <p:nvPr/>
        </p:nvSpPr>
        <p:spPr>
          <a:xfrm>
            <a:off x="1417320" y="3419856"/>
            <a:ext cx="4160520" cy="685800"/>
          </a:xfrm>
          <a:prstGeom prst="rect">
            <a:avLst/>
          </a:prstGeom>
          <a:noFill/>
          <a:ln/>
        </p:spPr>
        <p:txBody>
          <a:bodyPr wrap="square" rtlCol="0" anchor="ctr"/>
          <a:lstStyle/>
          <a:p>
            <a:pPr marL="0" indent="0">
              <a:lnSpc>
                <a:spcPts val="1600"/>
              </a:lnSpc>
              <a:buNone/>
            </a:pPr>
            <a:r>
              <a:rPr lang="en-US" sz="1250" dirty="0">
                <a:solidFill>
                  <a:srgbClr val="0D213B"/>
                </a:solidFill>
                <a:latin typeface="Calibri" pitchFamily="34" charset="0"/>
                <a:ea typeface="Calibri" pitchFamily="34" charset="-122"/>
                <a:cs typeface="Calibri" pitchFamily="34" charset="-120"/>
              </a:rPr>
              <a:t>Faire progresser le statut (contact, remédiation, correctif disponible)</a:t>
            </a:r>
            <a:endParaRPr lang="en-US" sz="1250" dirty="0"/>
          </a:p>
        </p:txBody>
      </p:sp>
      <p:sp>
        <p:nvSpPr>
          <p:cNvPr id="12" name="Shape 10"/>
          <p:cNvSpPr/>
          <p:nvPr/>
        </p:nvSpPr>
        <p:spPr>
          <a:xfrm>
            <a:off x="960120" y="4334256"/>
            <a:ext cx="274320" cy="274320"/>
          </a:xfrm>
          <a:prstGeom prst="ellipse">
            <a:avLst/>
          </a:prstGeom>
          <a:solidFill>
            <a:srgbClr val="0D7A5F"/>
          </a:solidFill>
          <a:ln/>
        </p:spPr>
      </p:sp>
      <p:sp>
        <p:nvSpPr>
          <p:cNvPr id="13" name="Text 11"/>
          <p:cNvSpPr/>
          <p:nvPr/>
        </p:nvSpPr>
        <p:spPr>
          <a:xfrm>
            <a:off x="960120" y="4315968"/>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14" name="Text 12"/>
          <p:cNvSpPr/>
          <p:nvPr/>
        </p:nvSpPr>
        <p:spPr>
          <a:xfrm>
            <a:off x="1417320" y="4261104"/>
            <a:ext cx="4160520" cy="685800"/>
          </a:xfrm>
          <a:prstGeom prst="rect">
            <a:avLst/>
          </a:prstGeom>
          <a:noFill/>
          <a:ln/>
        </p:spPr>
        <p:txBody>
          <a:bodyPr wrap="square" rtlCol="0" anchor="ctr"/>
          <a:lstStyle/>
          <a:p>
            <a:pPr marL="0" indent="0">
              <a:lnSpc>
                <a:spcPts val="1600"/>
              </a:lnSpc>
              <a:buNone/>
            </a:pPr>
            <a:r>
              <a:rPr lang="en-US" sz="1250" dirty="0">
                <a:solidFill>
                  <a:srgbClr val="0D213B"/>
                </a:solidFill>
                <a:latin typeface="Calibri" pitchFamily="34" charset="0"/>
                <a:ea typeface="Calibri" pitchFamily="34" charset="-122"/>
                <a:cs typeface="Calibri" pitchFamily="34" charset="-120"/>
              </a:rPr>
              <a:t>Publier des messages aux participants, y compris au niveau interne</a:t>
            </a:r>
            <a:endParaRPr lang="en-US" sz="1250" dirty="0"/>
          </a:p>
        </p:txBody>
      </p:sp>
      <p:sp>
        <p:nvSpPr>
          <p:cNvPr id="15" name="Shape 13"/>
          <p:cNvSpPr/>
          <p:nvPr/>
        </p:nvSpPr>
        <p:spPr>
          <a:xfrm>
            <a:off x="960120" y="5175504"/>
            <a:ext cx="274320" cy="274320"/>
          </a:xfrm>
          <a:prstGeom prst="ellipse">
            <a:avLst/>
          </a:prstGeom>
          <a:solidFill>
            <a:srgbClr val="0D7A5F"/>
          </a:solidFill>
          <a:ln/>
        </p:spPr>
      </p:sp>
      <p:sp>
        <p:nvSpPr>
          <p:cNvPr id="16" name="Text 14"/>
          <p:cNvSpPr/>
          <p:nvPr/>
        </p:nvSpPr>
        <p:spPr>
          <a:xfrm>
            <a:off x="960120" y="5157216"/>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17" name="Text 15"/>
          <p:cNvSpPr/>
          <p:nvPr/>
        </p:nvSpPr>
        <p:spPr>
          <a:xfrm>
            <a:off x="1417320" y="5102352"/>
            <a:ext cx="4160520" cy="685800"/>
          </a:xfrm>
          <a:prstGeom prst="rect">
            <a:avLst/>
          </a:prstGeom>
          <a:noFill/>
          <a:ln/>
        </p:spPr>
        <p:txBody>
          <a:bodyPr wrap="square" rtlCol="0" anchor="ctr"/>
          <a:lstStyle/>
          <a:p>
            <a:pPr marL="0" indent="0">
              <a:lnSpc>
                <a:spcPts val="1600"/>
              </a:lnSpc>
              <a:buNone/>
            </a:pPr>
            <a:r>
              <a:rPr lang="en-US" sz="1250" dirty="0">
                <a:solidFill>
                  <a:srgbClr val="0D213B"/>
                </a:solidFill>
                <a:latin typeface="Calibri" pitchFamily="34" charset="0"/>
                <a:ea typeface="Calibri" pitchFamily="34" charset="-122"/>
                <a:cs typeface="Calibri" pitchFamily="34" charset="-120"/>
              </a:rPr>
              <a:t>Proposer une récompense (programme Bug Bounty)</a:t>
            </a:r>
            <a:endParaRPr lang="en-US" sz="1250" dirty="0"/>
          </a:p>
        </p:txBody>
      </p:sp>
      <p:sp>
        <p:nvSpPr>
          <p:cNvPr id="18" name="Shape 16"/>
          <p:cNvSpPr/>
          <p:nvPr/>
        </p:nvSpPr>
        <p:spPr>
          <a:xfrm>
            <a:off x="6309360" y="1737360"/>
            <a:ext cx="5257800" cy="4297680"/>
          </a:xfrm>
          <a:prstGeom prst="roundRect">
            <a:avLst>
              <a:gd name="adj" fmla="val 1915"/>
            </a:avLst>
          </a:prstGeom>
          <a:solidFill>
            <a:srgbClr val="FAE3E3"/>
          </a:solidFill>
          <a:ln w="12700">
            <a:solidFill>
              <a:srgbClr val="B03A3A"/>
            </a:solidFill>
            <a:prstDash val="solid"/>
          </a:ln>
        </p:spPr>
      </p:sp>
      <p:sp>
        <p:nvSpPr>
          <p:cNvPr id="19" name="Text 17"/>
          <p:cNvSpPr/>
          <p:nvPr/>
        </p:nvSpPr>
        <p:spPr>
          <a:xfrm>
            <a:off x="6629400" y="2011680"/>
            <a:ext cx="3657600" cy="457200"/>
          </a:xfrm>
          <a:prstGeom prst="rect">
            <a:avLst/>
          </a:prstGeom>
          <a:noFill/>
          <a:ln/>
        </p:spPr>
        <p:txBody>
          <a:bodyPr wrap="square" rtlCol="0" anchor="ctr"/>
          <a:lstStyle/>
          <a:p>
            <a:pPr marL="0" indent="0">
              <a:buNone/>
            </a:pPr>
            <a:r>
              <a:rPr lang="en-US" sz="1800" b="1" dirty="0">
                <a:solidFill>
                  <a:srgbClr val="B03A3A"/>
                </a:solidFill>
                <a:latin typeface="Cambria" pitchFamily="34" charset="0"/>
                <a:ea typeface="Cambria" pitchFamily="34" charset="-122"/>
                <a:cs typeface="Cambria" pitchFamily="34" charset="-120"/>
              </a:rPr>
              <a:t>NE PEUT PAS</a:t>
            </a:r>
            <a:endParaRPr lang="en-US" sz="1800" dirty="0"/>
          </a:p>
        </p:txBody>
      </p:sp>
      <p:sp>
        <p:nvSpPr>
          <p:cNvPr id="20" name="Shape 18"/>
          <p:cNvSpPr/>
          <p:nvPr/>
        </p:nvSpPr>
        <p:spPr>
          <a:xfrm>
            <a:off x="6629400" y="2651760"/>
            <a:ext cx="274320" cy="274320"/>
          </a:xfrm>
          <a:prstGeom prst="ellipse">
            <a:avLst/>
          </a:prstGeom>
          <a:solidFill>
            <a:srgbClr val="B03A3A"/>
          </a:solidFill>
          <a:ln/>
        </p:spPr>
      </p:sp>
      <p:sp>
        <p:nvSpPr>
          <p:cNvPr id="21" name="Text 19"/>
          <p:cNvSpPr/>
          <p:nvPr/>
        </p:nvSpPr>
        <p:spPr>
          <a:xfrm>
            <a:off x="6629400" y="2633472"/>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22" name="Text 20"/>
          <p:cNvSpPr/>
          <p:nvPr/>
        </p:nvSpPr>
        <p:spPr>
          <a:xfrm>
            <a:off x="7086600" y="2578608"/>
            <a:ext cx="4160520" cy="685800"/>
          </a:xfrm>
          <a:prstGeom prst="rect">
            <a:avLst/>
          </a:prstGeom>
          <a:noFill/>
          <a:ln/>
        </p:spPr>
        <p:txBody>
          <a:bodyPr wrap="square" rtlCol="0" anchor="ctr"/>
          <a:lstStyle/>
          <a:p>
            <a:pPr marL="0" indent="0">
              <a:lnSpc>
                <a:spcPts val="1600"/>
              </a:lnSpc>
              <a:buNone/>
            </a:pPr>
            <a:r>
              <a:rPr lang="en-US" sz="1250" dirty="0">
                <a:solidFill>
                  <a:srgbClr val="0D213B"/>
                </a:solidFill>
                <a:latin typeface="Calibri" pitchFamily="34" charset="0"/>
                <a:ea typeface="Calibri" pitchFamily="34" charset="-122"/>
                <a:cs typeface="Calibri" pitchFamily="34" charset="-120"/>
              </a:rPr>
              <a:t>Trier ou valider elle-même un signalement</a:t>
            </a:r>
            <a:endParaRPr lang="en-US" sz="1250" dirty="0"/>
          </a:p>
        </p:txBody>
      </p:sp>
      <p:sp>
        <p:nvSpPr>
          <p:cNvPr id="23" name="Shape 21"/>
          <p:cNvSpPr/>
          <p:nvPr/>
        </p:nvSpPr>
        <p:spPr>
          <a:xfrm>
            <a:off x="6629400" y="3493008"/>
            <a:ext cx="274320" cy="274320"/>
          </a:xfrm>
          <a:prstGeom prst="ellipse">
            <a:avLst/>
          </a:prstGeom>
          <a:solidFill>
            <a:srgbClr val="B03A3A"/>
          </a:solidFill>
          <a:ln/>
        </p:spPr>
      </p:sp>
      <p:sp>
        <p:nvSpPr>
          <p:cNvPr id="24" name="Text 22"/>
          <p:cNvSpPr/>
          <p:nvPr/>
        </p:nvSpPr>
        <p:spPr>
          <a:xfrm>
            <a:off x="6629400" y="3474720"/>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25" name="Text 23"/>
          <p:cNvSpPr/>
          <p:nvPr/>
        </p:nvSpPr>
        <p:spPr>
          <a:xfrm>
            <a:off x="7086600" y="3419856"/>
            <a:ext cx="4160520" cy="685800"/>
          </a:xfrm>
          <a:prstGeom prst="rect">
            <a:avLst/>
          </a:prstGeom>
          <a:noFill/>
          <a:ln/>
        </p:spPr>
        <p:txBody>
          <a:bodyPr wrap="square" rtlCol="0" anchor="ctr"/>
          <a:lstStyle/>
          <a:p>
            <a:pPr marL="0" indent="0">
              <a:lnSpc>
                <a:spcPts val="1600"/>
              </a:lnSpc>
              <a:buNone/>
            </a:pPr>
            <a:r>
              <a:rPr lang="en-US" sz="1250" dirty="0">
                <a:solidFill>
                  <a:srgbClr val="0D213B"/>
                </a:solidFill>
                <a:latin typeface="Calibri" pitchFamily="34" charset="0"/>
                <a:ea typeface="Calibri" pitchFamily="34" charset="-122"/>
                <a:cs typeface="Calibri" pitchFamily="34" charset="-120"/>
              </a:rPr>
              <a:t>Fixer sa propre sévérité (CVSS)</a:t>
            </a:r>
            <a:endParaRPr lang="en-US" sz="1250" dirty="0"/>
          </a:p>
        </p:txBody>
      </p:sp>
      <p:sp>
        <p:nvSpPr>
          <p:cNvPr id="26" name="Shape 24"/>
          <p:cNvSpPr/>
          <p:nvPr/>
        </p:nvSpPr>
        <p:spPr>
          <a:xfrm>
            <a:off x="6629400" y="4334256"/>
            <a:ext cx="274320" cy="274320"/>
          </a:xfrm>
          <a:prstGeom prst="ellipse">
            <a:avLst/>
          </a:prstGeom>
          <a:solidFill>
            <a:srgbClr val="B03A3A"/>
          </a:solidFill>
          <a:ln/>
        </p:spPr>
      </p:sp>
      <p:sp>
        <p:nvSpPr>
          <p:cNvPr id="27" name="Text 25"/>
          <p:cNvSpPr/>
          <p:nvPr/>
        </p:nvSpPr>
        <p:spPr>
          <a:xfrm>
            <a:off x="6629400" y="4315968"/>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28" name="Text 26"/>
          <p:cNvSpPr/>
          <p:nvPr/>
        </p:nvSpPr>
        <p:spPr>
          <a:xfrm>
            <a:off x="7086600" y="4261104"/>
            <a:ext cx="4160520" cy="685800"/>
          </a:xfrm>
          <a:prstGeom prst="rect">
            <a:avLst/>
          </a:prstGeom>
          <a:noFill/>
          <a:ln/>
        </p:spPr>
        <p:txBody>
          <a:bodyPr wrap="square" rtlCol="0" anchor="ctr"/>
          <a:lstStyle/>
          <a:p>
            <a:pPr marL="0" indent="0">
              <a:lnSpc>
                <a:spcPts val="1600"/>
              </a:lnSpc>
              <a:buNone/>
            </a:pPr>
            <a:r>
              <a:rPr lang="en-US" sz="1250" dirty="0">
                <a:solidFill>
                  <a:srgbClr val="0D213B"/>
                </a:solidFill>
                <a:latin typeface="Calibri" pitchFamily="34" charset="0"/>
                <a:ea typeface="Calibri" pitchFamily="34" charset="-122"/>
                <a:cs typeface="Calibri" pitchFamily="34" charset="-120"/>
              </a:rPr>
              <a:t>S'auto-approuver une récompense</a:t>
            </a:r>
            <a:endParaRPr lang="en-US" sz="1250" dirty="0"/>
          </a:p>
        </p:txBody>
      </p:sp>
      <p:sp>
        <p:nvSpPr>
          <p:cNvPr id="29" name="Shape 27"/>
          <p:cNvSpPr/>
          <p:nvPr/>
        </p:nvSpPr>
        <p:spPr>
          <a:xfrm>
            <a:off x="6629400" y="5175504"/>
            <a:ext cx="274320" cy="274320"/>
          </a:xfrm>
          <a:prstGeom prst="ellipse">
            <a:avLst/>
          </a:prstGeom>
          <a:solidFill>
            <a:srgbClr val="B03A3A"/>
          </a:solidFill>
          <a:ln/>
        </p:spPr>
      </p:sp>
      <p:sp>
        <p:nvSpPr>
          <p:cNvPr id="30" name="Text 28"/>
          <p:cNvSpPr/>
          <p:nvPr/>
        </p:nvSpPr>
        <p:spPr>
          <a:xfrm>
            <a:off x="6629400" y="5157216"/>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31" name="Text 29"/>
          <p:cNvSpPr/>
          <p:nvPr/>
        </p:nvSpPr>
        <p:spPr>
          <a:xfrm>
            <a:off x="7086600" y="5102352"/>
            <a:ext cx="4160520" cy="685800"/>
          </a:xfrm>
          <a:prstGeom prst="rect">
            <a:avLst/>
          </a:prstGeom>
          <a:noFill/>
          <a:ln/>
        </p:spPr>
        <p:txBody>
          <a:bodyPr wrap="square" rtlCol="0" anchor="ctr"/>
          <a:lstStyle/>
          <a:p>
            <a:pPr marL="0" indent="0">
              <a:lnSpc>
                <a:spcPts val="1600"/>
              </a:lnSpc>
              <a:buNone/>
            </a:pPr>
            <a:r>
              <a:rPr lang="en-US" sz="1250" dirty="0">
                <a:solidFill>
                  <a:srgbClr val="0D213B"/>
                </a:solidFill>
                <a:latin typeface="Calibri" pitchFamily="34" charset="0"/>
                <a:ea typeface="Calibri" pitchFamily="34" charset="-122"/>
                <a:cs typeface="Calibri" pitchFamily="34" charset="-120"/>
              </a:rPr>
              <a:t>Publier seule un advisory</a:t>
            </a:r>
            <a:endParaRPr lang="en-US" sz="1250" dirty="0"/>
          </a:p>
        </p:txBody>
      </p:sp>
      <p:sp>
        <p:nvSpPr>
          <p:cNvPr id="32" name="Text 30"/>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9"/>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SUIVI</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Comment le déclarant est-il tenu informé ?</a:t>
            </a:r>
            <a:endParaRPr lang="en-US" sz="3200" dirty="0"/>
          </a:p>
        </p:txBody>
      </p:sp>
      <p:sp>
        <p:nvSpPr>
          <p:cNvPr id="4" name="Shape 2"/>
          <p:cNvSpPr/>
          <p:nvPr/>
        </p:nvSpPr>
        <p:spPr>
          <a:xfrm>
            <a:off x="640080" y="1828800"/>
            <a:ext cx="5257800" cy="2194560"/>
          </a:xfrm>
          <a:prstGeom prst="roundRect">
            <a:avLst>
              <a:gd name="adj" fmla="val 3750"/>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5" name="Text 3"/>
          <p:cNvSpPr/>
          <p:nvPr/>
        </p:nvSpPr>
        <p:spPr>
          <a:xfrm>
            <a:off x="960120" y="2103120"/>
            <a:ext cx="3657600" cy="457200"/>
          </a:xfrm>
          <a:prstGeom prst="rect">
            <a:avLst/>
          </a:prstGeom>
          <a:noFill/>
          <a:ln/>
        </p:spPr>
        <p:txBody>
          <a:bodyPr wrap="square" rtlCol="0" anchor="ctr"/>
          <a:lstStyle/>
          <a:p>
            <a:pPr marL="0" indent="0">
              <a:buNone/>
            </a:pPr>
            <a:r>
              <a:rPr lang="en-US" sz="1700" b="1" dirty="0">
                <a:solidFill>
                  <a:srgbClr val="0D213B"/>
                </a:solidFill>
                <a:latin typeface="Cambria" pitchFamily="34" charset="0"/>
                <a:ea typeface="Cambria" pitchFamily="34" charset="-122"/>
                <a:cs typeface="Cambria" pitchFamily="34" charset="-120"/>
              </a:rPr>
              <a:t>Avec compte</a:t>
            </a:r>
            <a:endParaRPr lang="en-US" sz="1700" dirty="0"/>
          </a:p>
        </p:txBody>
      </p:sp>
      <p:sp>
        <p:nvSpPr>
          <p:cNvPr id="6" name="Text 4"/>
          <p:cNvSpPr/>
          <p:nvPr/>
        </p:nvSpPr>
        <p:spPr>
          <a:xfrm>
            <a:off x="960120" y="2651760"/>
            <a:ext cx="4617720" cy="1188720"/>
          </a:xfrm>
          <a:prstGeom prst="rect">
            <a:avLst/>
          </a:prstGeom>
          <a:noFill/>
          <a:ln/>
        </p:spPr>
        <p:txBody>
          <a:bodyPr wrap="square" rtlCol="0" anchor="ctr"/>
          <a:lstStyle/>
          <a:p>
            <a:pPr marL="0" indent="0">
              <a:lnSpc>
                <a:spcPts val="1700"/>
              </a:lnSpc>
              <a:buNone/>
            </a:pPr>
            <a:r>
              <a:rPr lang="en-US" sz="1300" dirty="0">
                <a:solidFill>
                  <a:srgbClr val="3B4450"/>
                </a:solidFill>
                <a:latin typeface="Calibri" pitchFamily="34" charset="0"/>
                <a:ea typeface="Calibri" pitchFamily="34" charset="-122"/>
                <a:cs typeface="Calibri" pitchFamily="34" charset="-120"/>
              </a:rPr>
              <a:t>Notification directe dans son espace personnel et par email, à chaque étape clé : accusé de réception, demande d'informations, validation, rejet...</a:t>
            </a:r>
            <a:endParaRPr lang="en-US" sz="1300" dirty="0"/>
          </a:p>
        </p:txBody>
      </p:sp>
      <p:sp>
        <p:nvSpPr>
          <p:cNvPr id="7" name="Shape 5"/>
          <p:cNvSpPr/>
          <p:nvPr/>
        </p:nvSpPr>
        <p:spPr>
          <a:xfrm>
            <a:off x="6309360" y="1828800"/>
            <a:ext cx="5257800" cy="2194560"/>
          </a:xfrm>
          <a:prstGeom prst="roundRect">
            <a:avLst>
              <a:gd name="adj" fmla="val 3750"/>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8" name="Text 6"/>
          <p:cNvSpPr/>
          <p:nvPr/>
        </p:nvSpPr>
        <p:spPr>
          <a:xfrm>
            <a:off x="6629400" y="2103120"/>
            <a:ext cx="4114800" cy="457200"/>
          </a:xfrm>
          <a:prstGeom prst="rect">
            <a:avLst/>
          </a:prstGeom>
          <a:noFill/>
          <a:ln/>
        </p:spPr>
        <p:txBody>
          <a:bodyPr wrap="square" rtlCol="0" anchor="ctr"/>
          <a:lstStyle/>
          <a:p>
            <a:pPr marL="0" indent="0">
              <a:buNone/>
            </a:pPr>
            <a:r>
              <a:rPr lang="en-US" sz="1700" b="1" dirty="0">
                <a:solidFill>
                  <a:srgbClr val="0D213B"/>
                </a:solidFill>
                <a:latin typeface="Cambria" pitchFamily="34" charset="0"/>
                <a:ea typeface="Cambria" pitchFamily="34" charset="-122"/>
                <a:cs typeface="Cambria" pitchFamily="34" charset="-120"/>
              </a:rPr>
              <a:t>Sans compte (anonyme)</a:t>
            </a:r>
            <a:endParaRPr lang="en-US" sz="1700" dirty="0"/>
          </a:p>
        </p:txBody>
      </p:sp>
      <p:sp>
        <p:nvSpPr>
          <p:cNvPr id="9" name="Text 7"/>
          <p:cNvSpPr/>
          <p:nvPr/>
        </p:nvSpPr>
        <p:spPr>
          <a:xfrm>
            <a:off x="6629400" y="2651760"/>
            <a:ext cx="4617720" cy="1188720"/>
          </a:xfrm>
          <a:prstGeom prst="rect">
            <a:avLst/>
          </a:prstGeom>
          <a:noFill/>
          <a:ln/>
        </p:spPr>
        <p:txBody>
          <a:bodyPr wrap="square" rtlCol="0" anchor="ctr"/>
          <a:lstStyle/>
          <a:p>
            <a:pPr marL="0" indent="0">
              <a:lnSpc>
                <a:spcPts val="1700"/>
              </a:lnSpc>
              <a:buNone/>
            </a:pPr>
            <a:r>
              <a:rPr lang="en-US" sz="1300" dirty="0">
                <a:solidFill>
                  <a:srgbClr val="3B4450"/>
                </a:solidFill>
                <a:latin typeface="Calibri" pitchFamily="34" charset="0"/>
                <a:ea typeface="Calibri" pitchFamily="34" charset="-122"/>
                <a:cs typeface="Calibri" pitchFamily="34" charset="-120"/>
              </a:rPr>
              <a:t>Page de suivi par code — même réponse, valide ou non, pour ne jamais laisser deviner l'existence d'un dossier.</a:t>
            </a:r>
            <a:endParaRPr lang="en-US" sz="1300" dirty="0"/>
          </a:p>
        </p:txBody>
      </p:sp>
      <p:sp>
        <p:nvSpPr>
          <p:cNvPr id="10" name="Text 8"/>
          <p:cNvSpPr/>
          <p:nvPr/>
        </p:nvSpPr>
        <p:spPr>
          <a:xfrm>
            <a:off x="640080" y="4343400"/>
            <a:ext cx="10881360" cy="365760"/>
          </a:xfrm>
          <a:prstGeom prst="rect">
            <a:avLst/>
          </a:prstGeom>
          <a:noFill/>
          <a:ln/>
        </p:spPr>
        <p:txBody>
          <a:bodyPr wrap="square" rtlCol="0" anchor="ctr"/>
          <a:lstStyle/>
          <a:p>
            <a:pPr marL="0" indent="0">
              <a:buNone/>
            </a:pPr>
            <a:r>
              <a:rPr lang="en-US" sz="1400" b="1" dirty="0">
                <a:solidFill>
                  <a:srgbClr val="0D213B"/>
                </a:solidFill>
                <a:latin typeface="Cambria" pitchFamily="34" charset="0"/>
                <a:ea typeface="Cambria" pitchFamily="34" charset="-122"/>
                <a:cs typeface="Cambria" pitchFamily="34" charset="-120"/>
              </a:rPr>
              <a:t>5 statuts publics — volontairement plus simples que les 25 statuts internes</a:t>
            </a:r>
            <a:endParaRPr lang="en-US" sz="1400" dirty="0"/>
          </a:p>
        </p:txBody>
      </p:sp>
      <p:sp>
        <p:nvSpPr>
          <p:cNvPr id="11" name="Shape 9"/>
          <p:cNvSpPr/>
          <p:nvPr/>
        </p:nvSpPr>
        <p:spPr>
          <a:xfrm>
            <a:off x="640080" y="4846320"/>
            <a:ext cx="2075688" cy="777240"/>
          </a:xfrm>
          <a:prstGeom prst="roundRect">
            <a:avLst>
              <a:gd name="adj" fmla="val 47059"/>
            </a:avLst>
          </a:prstGeom>
          <a:solidFill>
            <a:srgbClr val="6E7884"/>
          </a:solidFill>
          <a:ln/>
        </p:spPr>
      </p:sp>
      <p:sp>
        <p:nvSpPr>
          <p:cNvPr id="12" name="Text 10"/>
          <p:cNvSpPr/>
          <p:nvPr/>
        </p:nvSpPr>
        <p:spPr>
          <a:xfrm>
            <a:off x="640080" y="4846320"/>
            <a:ext cx="2075688"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Reçu</a:t>
            </a:r>
            <a:endParaRPr lang="en-US" sz="1250" dirty="0"/>
          </a:p>
        </p:txBody>
      </p:sp>
      <p:sp>
        <p:nvSpPr>
          <p:cNvPr id="13" name="Text 11"/>
          <p:cNvSpPr/>
          <p:nvPr/>
        </p:nvSpPr>
        <p:spPr>
          <a:xfrm>
            <a:off x="2715768" y="4846320"/>
            <a:ext cx="137160" cy="777240"/>
          </a:xfrm>
          <a:prstGeom prst="rect">
            <a:avLst/>
          </a:prstGeom>
          <a:noFill/>
          <a:ln/>
        </p:spPr>
        <p:txBody>
          <a:bodyPr wrap="square" rtlCol="0" anchor="ctr"/>
          <a:lstStyle/>
          <a:p>
            <a:pPr marL="0" indent="0" algn="ctr">
              <a:buNone/>
            </a:pPr>
            <a:r>
              <a:rPr lang="en-US" sz="1400" dirty="0">
                <a:solidFill>
                  <a:srgbClr val="6E7884"/>
                </a:solidFill>
              </a:rPr>
              <a:t>→</a:t>
            </a:r>
            <a:endParaRPr lang="en-US" sz="1400" dirty="0"/>
          </a:p>
        </p:txBody>
      </p:sp>
      <p:sp>
        <p:nvSpPr>
          <p:cNvPr id="14" name="Shape 12"/>
          <p:cNvSpPr/>
          <p:nvPr/>
        </p:nvSpPr>
        <p:spPr>
          <a:xfrm>
            <a:off x="2852928" y="4846320"/>
            <a:ext cx="2075688" cy="777240"/>
          </a:xfrm>
          <a:prstGeom prst="roundRect">
            <a:avLst>
              <a:gd name="adj" fmla="val 47059"/>
            </a:avLst>
          </a:prstGeom>
          <a:solidFill>
            <a:srgbClr val="0D7A5F"/>
          </a:solidFill>
          <a:ln/>
        </p:spPr>
      </p:sp>
      <p:sp>
        <p:nvSpPr>
          <p:cNvPr id="15" name="Text 13"/>
          <p:cNvSpPr/>
          <p:nvPr/>
        </p:nvSpPr>
        <p:spPr>
          <a:xfrm>
            <a:off x="2852928" y="4846320"/>
            <a:ext cx="2075688"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En cours d'analyse</a:t>
            </a:r>
            <a:endParaRPr lang="en-US" sz="1250" dirty="0"/>
          </a:p>
        </p:txBody>
      </p:sp>
      <p:sp>
        <p:nvSpPr>
          <p:cNvPr id="16" name="Text 14"/>
          <p:cNvSpPr/>
          <p:nvPr/>
        </p:nvSpPr>
        <p:spPr>
          <a:xfrm>
            <a:off x="4928616" y="4846320"/>
            <a:ext cx="137160" cy="777240"/>
          </a:xfrm>
          <a:prstGeom prst="rect">
            <a:avLst/>
          </a:prstGeom>
          <a:noFill/>
          <a:ln/>
        </p:spPr>
        <p:txBody>
          <a:bodyPr wrap="square" rtlCol="0" anchor="ctr"/>
          <a:lstStyle/>
          <a:p>
            <a:pPr marL="0" indent="0" algn="ctr">
              <a:buNone/>
            </a:pPr>
            <a:r>
              <a:rPr lang="en-US" sz="1400" dirty="0">
                <a:solidFill>
                  <a:srgbClr val="6E7884"/>
                </a:solidFill>
              </a:rPr>
              <a:t>→</a:t>
            </a:r>
            <a:endParaRPr lang="en-US" sz="1400" dirty="0"/>
          </a:p>
        </p:txBody>
      </p:sp>
      <p:sp>
        <p:nvSpPr>
          <p:cNvPr id="17" name="Shape 15"/>
          <p:cNvSpPr/>
          <p:nvPr/>
        </p:nvSpPr>
        <p:spPr>
          <a:xfrm>
            <a:off x="5065776" y="4846320"/>
            <a:ext cx="2075688" cy="777240"/>
          </a:xfrm>
          <a:prstGeom prst="roundRect">
            <a:avLst>
              <a:gd name="adj" fmla="val 47059"/>
            </a:avLst>
          </a:prstGeom>
          <a:solidFill>
            <a:srgbClr val="C49428"/>
          </a:solidFill>
          <a:ln/>
        </p:spPr>
      </p:sp>
      <p:sp>
        <p:nvSpPr>
          <p:cNvPr id="18" name="Text 16"/>
          <p:cNvSpPr/>
          <p:nvPr/>
        </p:nvSpPr>
        <p:spPr>
          <a:xfrm>
            <a:off x="5065776" y="4846320"/>
            <a:ext cx="2075688"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Correction en cours</a:t>
            </a:r>
            <a:endParaRPr lang="en-US" sz="1250" dirty="0"/>
          </a:p>
        </p:txBody>
      </p:sp>
      <p:sp>
        <p:nvSpPr>
          <p:cNvPr id="19" name="Text 17"/>
          <p:cNvSpPr/>
          <p:nvPr/>
        </p:nvSpPr>
        <p:spPr>
          <a:xfrm>
            <a:off x="7141464" y="4846320"/>
            <a:ext cx="137160" cy="777240"/>
          </a:xfrm>
          <a:prstGeom prst="rect">
            <a:avLst/>
          </a:prstGeom>
          <a:noFill/>
          <a:ln/>
        </p:spPr>
        <p:txBody>
          <a:bodyPr wrap="square" rtlCol="0" anchor="ctr"/>
          <a:lstStyle/>
          <a:p>
            <a:pPr marL="0" indent="0" algn="ctr">
              <a:buNone/>
            </a:pPr>
            <a:r>
              <a:rPr lang="en-US" sz="1400" dirty="0">
                <a:solidFill>
                  <a:srgbClr val="6E7884"/>
                </a:solidFill>
              </a:rPr>
              <a:t>→</a:t>
            </a:r>
            <a:endParaRPr lang="en-US" sz="1400" dirty="0"/>
          </a:p>
        </p:txBody>
      </p:sp>
      <p:sp>
        <p:nvSpPr>
          <p:cNvPr id="20" name="Shape 18"/>
          <p:cNvSpPr/>
          <p:nvPr/>
        </p:nvSpPr>
        <p:spPr>
          <a:xfrm>
            <a:off x="7278624" y="4846320"/>
            <a:ext cx="2075688" cy="777240"/>
          </a:xfrm>
          <a:prstGeom prst="roundRect">
            <a:avLst>
              <a:gd name="adj" fmla="val 47059"/>
            </a:avLst>
          </a:prstGeom>
          <a:solidFill>
            <a:srgbClr val="0D7A5F"/>
          </a:solidFill>
          <a:ln/>
        </p:spPr>
      </p:sp>
      <p:sp>
        <p:nvSpPr>
          <p:cNvPr id="21" name="Text 19"/>
          <p:cNvSpPr/>
          <p:nvPr/>
        </p:nvSpPr>
        <p:spPr>
          <a:xfrm>
            <a:off x="7278624" y="4846320"/>
            <a:ext cx="2075688"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Résolu</a:t>
            </a:r>
            <a:endParaRPr lang="en-US" sz="1250" dirty="0"/>
          </a:p>
        </p:txBody>
      </p:sp>
      <p:sp>
        <p:nvSpPr>
          <p:cNvPr id="22" name="Text 20"/>
          <p:cNvSpPr/>
          <p:nvPr/>
        </p:nvSpPr>
        <p:spPr>
          <a:xfrm>
            <a:off x="9354312" y="4846320"/>
            <a:ext cx="137160" cy="777240"/>
          </a:xfrm>
          <a:prstGeom prst="rect">
            <a:avLst/>
          </a:prstGeom>
          <a:noFill/>
          <a:ln/>
        </p:spPr>
        <p:txBody>
          <a:bodyPr wrap="square" rtlCol="0" anchor="ctr"/>
          <a:lstStyle/>
          <a:p>
            <a:pPr marL="0" indent="0" algn="ctr">
              <a:buNone/>
            </a:pPr>
            <a:r>
              <a:rPr lang="en-US" sz="1400" dirty="0">
                <a:solidFill>
                  <a:srgbClr val="6E7884"/>
                </a:solidFill>
              </a:rPr>
              <a:t>→</a:t>
            </a:r>
            <a:endParaRPr lang="en-US" sz="1400" dirty="0"/>
          </a:p>
        </p:txBody>
      </p:sp>
      <p:sp>
        <p:nvSpPr>
          <p:cNvPr id="23" name="Shape 21"/>
          <p:cNvSpPr/>
          <p:nvPr/>
        </p:nvSpPr>
        <p:spPr>
          <a:xfrm>
            <a:off x="9491472" y="4846320"/>
            <a:ext cx="2075688" cy="777240"/>
          </a:xfrm>
          <a:prstGeom prst="roundRect">
            <a:avLst>
              <a:gd name="adj" fmla="val 47059"/>
            </a:avLst>
          </a:prstGeom>
          <a:solidFill>
            <a:srgbClr val="B03A3A"/>
          </a:solidFill>
          <a:ln/>
        </p:spPr>
      </p:sp>
      <p:sp>
        <p:nvSpPr>
          <p:cNvPr id="24" name="Text 22"/>
          <p:cNvSpPr/>
          <p:nvPr/>
        </p:nvSpPr>
        <p:spPr>
          <a:xfrm>
            <a:off x="9491472" y="4846320"/>
            <a:ext cx="2075688"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Clôturé sans suite</a:t>
            </a:r>
            <a:endParaRPr lang="en-US" sz="1250" dirty="0"/>
          </a:p>
        </p:txBody>
      </p:sp>
      <p:sp>
        <p:nvSpPr>
          <p:cNvPr id="25" name="Text 23"/>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SYNTHÈSE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2800" b="1" dirty="0">
                <a:solidFill>
                  <a:srgbClr val="0D213B"/>
                </a:solidFill>
                <a:latin typeface="Cambria" pitchFamily="34" charset="0"/>
                <a:ea typeface="Cambria" pitchFamily="34" charset="-122"/>
                <a:cs typeface="Cambria" pitchFamily="34" charset="-120"/>
              </a:rPr>
              <a:t>Vue d'ensemble du workflow complet</a:t>
            </a:r>
            <a:endParaRPr lang="en-US" sz="2800" dirty="0"/>
          </a:p>
        </p:txBody>
      </p:sp>
      <p:pic>
        <p:nvPicPr>
          <p:cNvPr id="4" name="Image 0" descr="diagram_global.png"/>
          <p:cNvPicPr>
            <a:picLocks noChangeAspect="1"/>
          </p:cNvPicPr>
          <p:nvPr/>
        </p:nvPicPr>
        <p:blipFill>
          <a:blip r:embed="rId3"/>
          <a:stretch>
            <a:fillRect/>
          </a:stretch>
        </p:blipFill>
        <p:spPr>
          <a:xfrm>
            <a:off x="457200" y="1417320"/>
            <a:ext cx="11274552" cy="6086263"/>
          </a:xfrm>
          <a:prstGeom prst="rect">
            <a:avLst/>
          </a:prstGeom>
        </p:spPr>
      </p:pic>
      <p:sp>
        <p:nvSpPr>
          <p:cNvPr id="5" name="Text 2"/>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SECTION DÉDIÉE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2600" b="1" dirty="0">
                <a:solidFill>
                  <a:srgbClr val="0D213B"/>
                </a:solidFill>
                <a:latin typeface="Cambria" pitchFamily="34" charset="0"/>
                <a:ea typeface="Cambria" pitchFamily="34" charset="-122"/>
                <a:cs typeface="Cambria" pitchFamily="34" charset="-120"/>
              </a:rPr>
              <a:t>Le workflow détaillé des tickets (25 statuts)</a:t>
            </a:r>
            <a:endParaRPr lang="en-US" sz="2600" dirty="0"/>
          </a:p>
        </p:txBody>
      </p:sp>
      <p:pic>
        <p:nvPicPr>
          <p:cNvPr id="4" name="Image 0" descr="diagram_tickets.png"/>
          <p:cNvPicPr>
            <a:picLocks noChangeAspect="1"/>
          </p:cNvPicPr>
          <p:nvPr/>
        </p:nvPicPr>
        <p:blipFill>
          <a:blip r:embed="rId3"/>
          <a:stretch>
            <a:fillRect/>
          </a:stretch>
        </p:blipFill>
        <p:spPr>
          <a:xfrm>
            <a:off x="685800" y="1691640"/>
            <a:ext cx="10817352" cy="3107112"/>
          </a:xfrm>
          <a:prstGeom prst="rect">
            <a:avLst/>
          </a:prstGeom>
        </p:spPr>
      </p:pic>
      <p:sp>
        <p:nvSpPr>
          <p:cNvPr id="5" name="Text 2"/>
          <p:cNvSpPr/>
          <p:nvPr/>
        </p:nvSpPr>
        <p:spPr>
          <a:xfrm>
            <a:off x="640080" y="6400800"/>
            <a:ext cx="10881360" cy="365760"/>
          </a:xfrm>
          <a:prstGeom prst="rect">
            <a:avLst/>
          </a:prstGeom>
          <a:noFill/>
          <a:ln/>
        </p:spPr>
        <p:txBody>
          <a:bodyPr wrap="square" rtlCol="0" anchor="ctr"/>
          <a:lstStyle/>
          <a:p>
            <a:pPr marL="0" indent="0">
              <a:buNone/>
            </a:pPr>
            <a:r>
              <a:rPr lang="en-US" sz="1150" i="1" dirty="0">
                <a:solidFill>
                  <a:srgbClr val="6E7884"/>
                </a:solidFill>
                <a:latin typeface="Calibri" pitchFamily="34" charset="0"/>
                <a:ea typeface="Calibri" pitchFamily="34" charset="-122"/>
                <a:cs typeface="Calibri" pitchFamily="34" charset="-120"/>
              </a:rPr>
              <a:t>Règle du moteur : toute transition non explicitement déclarée est interdite. Chaque statut clé exige en plus une capacité RBAC précise.</a:t>
            </a:r>
            <a:endParaRPr lang="en-US" sz="1150" dirty="0"/>
          </a:p>
        </p:txBody>
      </p:sp>
      <p:sp>
        <p:nvSpPr>
          <p:cNvPr id="6" name="Text 3"/>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9"/>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SUR LE TERRAIN</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Qu'est-ce qu'on voit en ouvrant un ticket ?</a:t>
            </a:r>
            <a:endParaRPr lang="en-US" sz="3200" dirty="0"/>
          </a:p>
        </p:txBody>
      </p:sp>
      <p:sp>
        <p:nvSpPr>
          <p:cNvPr id="4" name="Shape 2"/>
          <p:cNvSpPr/>
          <p:nvPr/>
        </p:nvSpPr>
        <p:spPr>
          <a:xfrm>
            <a:off x="640080" y="1737360"/>
            <a:ext cx="3520440" cy="2788920"/>
          </a:xfrm>
          <a:prstGeom prst="roundRect">
            <a:avLst>
              <a:gd name="adj" fmla="val 2951"/>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5" name="Shape 3"/>
          <p:cNvSpPr/>
          <p:nvPr/>
        </p:nvSpPr>
        <p:spPr>
          <a:xfrm>
            <a:off x="640080" y="1737360"/>
            <a:ext cx="3520440" cy="502920"/>
          </a:xfrm>
          <a:prstGeom prst="rect">
            <a:avLst/>
          </a:prstGeom>
          <a:solidFill>
            <a:srgbClr val="0D7A5F"/>
          </a:solidFill>
          <a:ln/>
        </p:spPr>
      </p:sp>
      <p:sp>
        <p:nvSpPr>
          <p:cNvPr id="6" name="Text 4"/>
          <p:cNvSpPr/>
          <p:nvPr/>
        </p:nvSpPr>
        <p:spPr>
          <a:xfrm>
            <a:off x="868680" y="1737360"/>
            <a:ext cx="3063240" cy="5029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En-tête</a:t>
            </a:r>
            <a:endParaRPr lang="en-US" sz="1450" dirty="0"/>
          </a:p>
        </p:txBody>
      </p:sp>
      <p:sp>
        <p:nvSpPr>
          <p:cNvPr id="7" name="Shape 5"/>
          <p:cNvSpPr/>
          <p:nvPr/>
        </p:nvSpPr>
        <p:spPr>
          <a:xfrm>
            <a:off x="896112" y="2551176"/>
            <a:ext cx="73152" cy="73152"/>
          </a:xfrm>
          <a:prstGeom prst="ellipse">
            <a:avLst/>
          </a:prstGeom>
          <a:solidFill>
            <a:srgbClr val="0D7A5F"/>
          </a:solidFill>
          <a:ln/>
        </p:spPr>
      </p:sp>
      <p:sp>
        <p:nvSpPr>
          <p:cNvPr id="8" name="Text 6"/>
          <p:cNvSpPr/>
          <p:nvPr/>
        </p:nvSpPr>
        <p:spPr>
          <a:xfrm>
            <a:off x="1097280" y="2423160"/>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Titre, sévérité, statut</a:t>
            </a:r>
            <a:endParaRPr lang="en-US" sz="1200" dirty="0"/>
          </a:p>
        </p:txBody>
      </p:sp>
      <p:sp>
        <p:nvSpPr>
          <p:cNvPr id="9" name="Shape 7"/>
          <p:cNvSpPr/>
          <p:nvPr/>
        </p:nvSpPr>
        <p:spPr>
          <a:xfrm>
            <a:off x="896112" y="3209544"/>
            <a:ext cx="73152" cy="73152"/>
          </a:xfrm>
          <a:prstGeom prst="ellipse">
            <a:avLst/>
          </a:prstGeom>
          <a:solidFill>
            <a:srgbClr val="0D7A5F"/>
          </a:solidFill>
          <a:ln/>
        </p:spPr>
      </p:sp>
      <p:sp>
        <p:nvSpPr>
          <p:cNvPr id="10" name="Text 8"/>
          <p:cNvSpPr/>
          <p:nvPr/>
        </p:nvSpPr>
        <p:spPr>
          <a:xfrm>
            <a:off x="1097280" y="3081528"/>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Type de workflow (VDP / Bug Bounty)</a:t>
            </a:r>
            <a:endParaRPr lang="en-US" sz="1200" dirty="0"/>
          </a:p>
        </p:txBody>
      </p:sp>
      <p:sp>
        <p:nvSpPr>
          <p:cNvPr id="11" name="Shape 9"/>
          <p:cNvSpPr/>
          <p:nvPr/>
        </p:nvSpPr>
        <p:spPr>
          <a:xfrm>
            <a:off x="896112" y="3867912"/>
            <a:ext cx="73152" cy="73152"/>
          </a:xfrm>
          <a:prstGeom prst="ellipse">
            <a:avLst/>
          </a:prstGeom>
          <a:solidFill>
            <a:srgbClr val="0D7A5F"/>
          </a:solidFill>
          <a:ln/>
        </p:spPr>
      </p:sp>
      <p:sp>
        <p:nvSpPr>
          <p:cNvPr id="12" name="Text 10"/>
          <p:cNvSpPr/>
          <p:nvPr/>
        </p:nvSpPr>
        <p:spPr>
          <a:xfrm>
            <a:off x="1097280" y="3739896"/>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CVSS, CWE, CVE, score de priorité</a:t>
            </a:r>
            <a:endParaRPr lang="en-US" sz="1200" dirty="0"/>
          </a:p>
        </p:txBody>
      </p:sp>
      <p:sp>
        <p:nvSpPr>
          <p:cNvPr id="13" name="Shape 11"/>
          <p:cNvSpPr/>
          <p:nvPr/>
        </p:nvSpPr>
        <p:spPr>
          <a:xfrm>
            <a:off x="4480560" y="1737360"/>
            <a:ext cx="3520440" cy="2788920"/>
          </a:xfrm>
          <a:prstGeom prst="roundRect">
            <a:avLst>
              <a:gd name="adj" fmla="val 2951"/>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14" name="Shape 12"/>
          <p:cNvSpPr/>
          <p:nvPr/>
        </p:nvSpPr>
        <p:spPr>
          <a:xfrm>
            <a:off x="4480560" y="1737360"/>
            <a:ext cx="3520440" cy="502920"/>
          </a:xfrm>
          <a:prstGeom prst="rect">
            <a:avLst/>
          </a:prstGeom>
          <a:solidFill>
            <a:srgbClr val="0D213B"/>
          </a:solidFill>
          <a:ln/>
        </p:spPr>
      </p:sp>
      <p:sp>
        <p:nvSpPr>
          <p:cNvPr id="15" name="Text 13"/>
          <p:cNvSpPr/>
          <p:nvPr/>
        </p:nvSpPr>
        <p:spPr>
          <a:xfrm>
            <a:off x="4709160" y="1737360"/>
            <a:ext cx="3063240" cy="5029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Contenu du dossier</a:t>
            </a:r>
            <a:endParaRPr lang="en-US" sz="1450" dirty="0"/>
          </a:p>
        </p:txBody>
      </p:sp>
      <p:sp>
        <p:nvSpPr>
          <p:cNvPr id="16" name="Shape 14"/>
          <p:cNvSpPr/>
          <p:nvPr/>
        </p:nvSpPr>
        <p:spPr>
          <a:xfrm>
            <a:off x="4736592" y="2551176"/>
            <a:ext cx="73152" cy="73152"/>
          </a:xfrm>
          <a:prstGeom prst="ellipse">
            <a:avLst/>
          </a:prstGeom>
          <a:solidFill>
            <a:srgbClr val="0D213B"/>
          </a:solidFill>
          <a:ln/>
        </p:spPr>
      </p:sp>
      <p:sp>
        <p:nvSpPr>
          <p:cNvPr id="17" name="Text 15"/>
          <p:cNvSpPr/>
          <p:nvPr/>
        </p:nvSpPr>
        <p:spPr>
          <a:xfrm>
            <a:off x="4937760" y="2423160"/>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Rapport complet (description, PoC, impact)</a:t>
            </a:r>
            <a:endParaRPr lang="en-US" sz="1200" dirty="0"/>
          </a:p>
        </p:txBody>
      </p:sp>
      <p:sp>
        <p:nvSpPr>
          <p:cNvPr id="18" name="Shape 16"/>
          <p:cNvSpPr/>
          <p:nvPr/>
        </p:nvSpPr>
        <p:spPr>
          <a:xfrm>
            <a:off x="4736592" y="3209544"/>
            <a:ext cx="73152" cy="73152"/>
          </a:xfrm>
          <a:prstGeom prst="ellipse">
            <a:avLst/>
          </a:prstGeom>
          <a:solidFill>
            <a:srgbClr val="0D213B"/>
          </a:solidFill>
          <a:ln/>
        </p:spPr>
      </p:sp>
      <p:sp>
        <p:nvSpPr>
          <p:cNvPr id="19" name="Text 17"/>
          <p:cNvSpPr/>
          <p:nvPr/>
        </p:nvSpPr>
        <p:spPr>
          <a:xfrm>
            <a:off x="4937760" y="3081528"/>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Messagerie sécurisée avec l'équipe</a:t>
            </a:r>
            <a:endParaRPr lang="en-US" sz="1200" dirty="0"/>
          </a:p>
        </p:txBody>
      </p:sp>
      <p:sp>
        <p:nvSpPr>
          <p:cNvPr id="20" name="Shape 18"/>
          <p:cNvSpPr/>
          <p:nvPr/>
        </p:nvSpPr>
        <p:spPr>
          <a:xfrm>
            <a:off x="4736592" y="3867912"/>
            <a:ext cx="73152" cy="73152"/>
          </a:xfrm>
          <a:prstGeom prst="ellipse">
            <a:avLst/>
          </a:prstGeom>
          <a:solidFill>
            <a:srgbClr val="0D213B"/>
          </a:solidFill>
          <a:ln/>
        </p:spPr>
      </p:sp>
      <p:sp>
        <p:nvSpPr>
          <p:cNvPr id="21" name="Text 19"/>
          <p:cNvSpPr/>
          <p:nvPr/>
        </p:nvSpPr>
        <p:spPr>
          <a:xfrm>
            <a:off x="4937760" y="3739896"/>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Pièces jointes + statut antivirus</a:t>
            </a:r>
            <a:endParaRPr lang="en-US" sz="1200" dirty="0"/>
          </a:p>
        </p:txBody>
      </p:sp>
      <p:sp>
        <p:nvSpPr>
          <p:cNvPr id="22" name="Shape 20"/>
          <p:cNvSpPr/>
          <p:nvPr/>
        </p:nvSpPr>
        <p:spPr>
          <a:xfrm>
            <a:off x="8321040" y="1737360"/>
            <a:ext cx="3520440" cy="2788920"/>
          </a:xfrm>
          <a:prstGeom prst="roundRect">
            <a:avLst>
              <a:gd name="adj" fmla="val 2951"/>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23" name="Shape 21"/>
          <p:cNvSpPr/>
          <p:nvPr/>
        </p:nvSpPr>
        <p:spPr>
          <a:xfrm>
            <a:off x="8321040" y="1737360"/>
            <a:ext cx="3520440" cy="502920"/>
          </a:xfrm>
          <a:prstGeom prst="rect">
            <a:avLst/>
          </a:prstGeom>
          <a:solidFill>
            <a:srgbClr val="C49428"/>
          </a:solidFill>
          <a:ln/>
        </p:spPr>
      </p:sp>
      <p:sp>
        <p:nvSpPr>
          <p:cNvPr id="24" name="Text 22"/>
          <p:cNvSpPr/>
          <p:nvPr/>
        </p:nvSpPr>
        <p:spPr>
          <a:xfrm>
            <a:off x="8549640" y="1737360"/>
            <a:ext cx="3063240" cy="5029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Fiche &amp; historique</a:t>
            </a:r>
            <a:endParaRPr lang="en-US" sz="1450" dirty="0"/>
          </a:p>
        </p:txBody>
      </p:sp>
      <p:sp>
        <p:nvSpPr>
          <p:cNvPr id="25" name="Shape 23"/>
          <p:cNvSpPr/>
          <p:nvPr/>
        </p:nvSpPr>
        <p:spPr>
          <a:xfrm>
            <a:off x="8577072" y="2551176"/>
            <a:ext cx="73152" cy="73152"/>
          </a:xfrm>
          <a:prstGeom prst="ellipse">
            <a:avLst/>
          </a:prstGeom>
          <a:solidFill>
            <a:srgbClr val="C49428"/>
          </a:solidFill>
          <a:ln/>
        </p:spPr>
      </p:sp>
      <p:sp>
        <p:nvSpPr>
          <p:cNvPr id="26" name="Text 24"/>
          <p:cNvSpPr/>
          <p:nvPr/>
        </p:nvSpPr>
        <p:spPr>
          <a:xfrm>
            <a:off x="8778240" y="2423160"/>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Déclarant, organisation, analyste assigné</a:t>
            </a:r>
            <a:endParaRPr lang="en-US" sz="1200" dirty="0"/>
          </a:p>
        </p:txBody>
      </p:sp>
      <p:sp>
        <p:nvSpPr>
          <p:cNvPr id="27" name="Shape 25"/>
          <p:cNvSpPr/>
          <p:nvPr/>
        </p:nvSpPr>
        <p:spPr>
          <a:xfrm>
            <a:off x="8577072" y="3209544"/>
            <a:ext cx="73152" cy="73152"/>
          </a:xfrm>
          <a:prstGeom prst="ellipse">
            <a:avLst/>
          </a:prstGeom>
          <a:solidFill>
            <a:srgbClr val="C49428"/>
          </a:solidFill>
          <a:ln/>
        </p:spPr>
      </p:sp>
      <p:sp>
        <p:nvSpPr>
          <p:cNvPr id="28" name="Text 26"/>
          <p:cNvSpPr/>
          <p:nvPr/>
        </p:nvSpPr>
        <p:spPr>
          <a:xfrm>
            <a:off x="8778240" y="3081528"/>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Échéances SLA, chronologie complète</a:t>
            </a:r>
            <a:endParaRPr lang="en-US" sz="1200" dirty="0"/>
          </a:p>
        </p:txBody>
      </p:sp>
      <p:sp>
        <p:nvSpPr>
          <p:cNvPr id="29" name="Shape 27"/>
          <p:cNvSpPr/>
          <p:nvPr/>
        </p:nvSpPr>
        <p:spPr>
          <a:xfrm>
            <a:off x="8577072" y="3867912"/>
            <a:ext cx="73152" cy="73152"/>
          </a:xfrm>
          <a:prstGeom prst="ellipse">
            <a:avLst/>
          </a:prstGeom>
          <a:solidFill>
            <a:srgbClr val="C49428"/>
          </a:solidFill>
          <a:ln/>
        </p:spPr>
      </p:sp>
      <p:sp>
        <p:nvSpPr>
          <p:cNvPr id="30" name="Text 28"/>
          <p:cNvSpPr/>
          <p:nvPr/>
        </p:nvSpPr>
        <p:spPr>
          <a:xfrm>
            <a:off x="8778240" y="3739896"/>
            <a:ext cx="2834640" cy="594360"/>
          </a:xfrm>
          <a:prstGeom prst="rect">
            <a:avLst/>
          </a:prstGeom>
          <a:noFill/>
          <a:ln/>
        </p:spPr>
        <p:txBody>
          <a:bodyPr wrap="square" rtlCol="0" anchor="ctr"/>
          <a:lstStyle/>
          <a:p>
            <a:pPr marL="0" indent="0">
              <a:lnSpc>
                <a:spcPts val="1500"/>
              </a:lnSpc>
              <a:buNone/>
            </a:pPr>
            <a:r>
              <a:rPr lang="en-US" sz="1200" dirty="0">
                <a:solidFill>
                  <a:srgbClr val="3B4450"/>
                </a:solidFill>
                <a:latin typeface="Calibri" pitchFamily="34" charset="0"/>
                <a:ea typeface="Calibri" pitchFamily="34" charset="-122"/>
                <a:cs typeface="Calibri" pitchFamily="34" charset="-120"/>
              </a:rPr>
              <a:t>Historique des 30 derniers changements de statut</a:t>
            </a:r>
            <a:endParaRPr lang="en-US" sz="1200" dirty="0"/>
          </a:p>
        </p:txBody>
      </p:sp>
      <p:sp>
        <p:nvSpPr>
          <p:cNvPr id="31" name="Shape 29"/>
          <p:cNvSpPr/>
          <p:nvPr/>
        </p:nvSpPr>
        <p:spPr>
          <a:xfrm>
            <a:off x="640080" y="4800600"/>
            <a:ext cx="11201400" cy="1417320"/>
          </a:xfrm>
          <a:prstGeom prst="roundRect">
            <a:avLst>
              <a:gd name="adj" fmla="val 5806"/>
            </a:avLst>
          </a:prstGeom>
          <a:solidFill>
            <a:srgbClr val="0D213B"/>
          </a:solidFill>
          <a:ln/>
        </p:spPr>
      </p:sp>
      <p:sp>
        <p:nvSpPr>
          <p:cNvPr id="32" name="Text 30"/>
          <p:cNvSpPr/>
          <p:nvPr/>
        </p:nvSpPr>
        <p:spPr>
          <a:xfrm>
            <a:off x="960120" y="4983480"/>
            <a:ext cx="9966960" cy="36576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Les formulaires d'action ne s'affichent que si on a le droit</a:t>
            </a:r>
            <a:endParaRPr lang="en-US" sz="1450" dirty="0"/>
          </a:p>
        </p:txBody>
      </p:sp>
      <p:sp>
        <p:nvSpPr>
          <p:cNvPr id="33" name="Text 31"/>
          <p:cNvSpPr/>
          <p:nvPr/>
        </p:nvSpPr>
        <p:spPr>
          <a:xfrm>
            <a:off x="960120" y="5349240"/>
            <a:ext cx="9966960" cy="822960"/>
          </a:xfrm>
          <a:prstGeom prst="rect">
            <a:avLst/>
          </a:prstGeom>
          <a:noFill/>
          <a:ln/>
        </p:spPr>
        <p:txBody>
          <a:bodyPr wrap="square" rtlCol="0" anchor="ctr"/>
          <a:lstStyle/>
          <a:p>
            <a:pPr marL="0" indent="0">
              <a:lnSpc>
                <a:spcPts val="1600"/>
              </a:lnSpc>
              <a:buNone/>
            </a:pPr>
            <a:r>
              <a:rPr lang="en-US" sz="1200" dirty="0">
                <a:solidFill>
                  <a:srgbClr val="D8E1EA"/>
                </a:solidFill>
                <a:latin typeface="Calibri" pitchFamily="34" charset="0"/>
                <a:ea typeface="Calibri" pitchFamily="34" charset="-122"/>
                <a:cs typeface="Calibri" pitchFamily="34" charset="-120"/>
              </a:rPr>
              <a:t>Changer le statut, trier, assigner, marquer doublon, planifier la divulgation — chaque bouton n'apparaît que si la personne connectée détient la capacité RBAC correspondante. Et chaque ouverture de dossier, autorisée ou refusée, est elle-même journalisée dans l'audit.</a:t>
            </a:r>
            <a:endParaRPr lang="en-US" sz="1200" dirty="0"/>
          </a:p>
        </p:txBody>
      </p:sp>
      <p:sp>
        <p:nvSpPr>
          <p:cNvPr id="34" name="Text 32"/>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13B"/>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C49428"/>
                </a:solidFill>
                <a:latin typeface="Calibri" pitchFamily="34" charset="0"/>
                <a:ea typeface="Calibri" pitchFamily="34" charset="-122"/>
                <a:cs typeface="Calibri" pitchFamily="34" charset="-120"/>
              </a:rPr>
              <a:t>PROGRAMMES BUG BOUNTY</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Qui lance et qui participe à un programme ?</a:t>
            </a:r>
            <a:endParaRPr lang="en-US" sz="3200" dirty="0"/>
          </a:p>
        </p:txBody>
      </p:sp>
      <p:sp>
        <p:nvSpPr>
          <p:cNvPr id="4" name="Shape 2"/>
          <p:cNvSpPr/>
          <p:nvPr/>
        </p:nvSpPr>
        <p:spPr>
          <a:xfrm>
            <a:off x="640080" y="1828800"/>
            <a:ext cx="5257800" cy="2148840"/>
          </a:xfrm>
          <a:prstGeom prst="roundRect">
            <a:avLst>
              <a:gd name="adj" fmla="val 3830"/>
            </a:avLst>
          </a:prstGeom>
          <a:solidFill>
            <a:srgbClr val="17375E"/>
          </a:solidFill>
          <a:ln/>
        </p:spPr>
      </p:sp>
      <p:sp>
        <p:nvSpPr>
          <p:cNvPr id="5" name="Text 3"/>
          <p:cNvSpPr/>
          <p:nvPr/>
        </p:nvSpPr>
        <p:spPr>
          <a:xfrm>
            <a:off x="960120" y="2057400"/>
            <a:ext cx="3657600" cy="457200"/>
          </a:xfrm>
          <a:prstGeom prst="rect">
            <a:avLst/>
          </a:prstGeom>
          <a:noFill/>
          <a:ln/>
        </p:spPr>
        <p:txBody>
          <a:bodyPr wrap="square" rtlCol="0" anchor="ctr"/>
          <a:lstStyle/>
          <a:p>
            <a:pPr marL="0" indent="0">
              <a:buNone/>
            </a:pPr>
            <a:r>
              <a:rPr lang="en-US" sz="1600" b="1" dirty="0">
                <a:solidFill>
                  <a:srgbClr val="C49428"/>
                </a:solidFill>
                <a:latin typeface="Cambria" pitchFamily="34" charset="0"/>
                <a:ea typeface="Cambria" pitchFamily="34" charset="-122"/>
                <a:cs typeface="Cambria" pitchFamily="34" charset="-120"/>
              </a:rPr>
              <a:t>Qui le crée ?</a:t>
            </a:r>
            <a:endParaRPr lang="en-US" sz="1600" dirty="0"/>
          </a:p>
        </p:txBody>
      </p:sp>
      <p:sp>
        <p:nvSpPr>
          <p:cNvPr id="6" name="Text 4"/>
          <p:cNvSpPr/>
          <p:nvPr/>
        </p:nvSpPr>
        <p:spPr>
          <a:xfrm>
            <a:off x="960120" y="2606040"/>
            <a:ext cx="4617720" cy="1280160"/>
          </a:xfrm>
          <a:prstGeom prst="rect">
            <a:avLst/>
          </a:prstGeom>
          <a:noFill/>
          <a:ln/>
        </p:spPr>
        <p:txBody>
          <a:bodyPr wrap="square" rtlCol="0" anchor="ctr"/>
          <a:lstStyle/>
          <a:p>
            <a:pPr marL="0" indent="0">
              <a:lnSpc>
                <a:spcPts val="1700"/>
              </a:lnSpc>
              <a:buNone/>
            </a:pPr>
            <a:r>
              <a:rPr lang="en-US" sz="1300" dirty="0">
                <a:solidFill>
                  <a:srgbClr val="D8E1EA"/>
                </a:solidFill>
                <a:latin typeface="Calibri" pitchFamily="34" charset="0"/>
                <a:ea typeface="Calibri" pitchFamily="34" charset="-122"/>
                <a:cs typeface="Calibri" pitchFamily="34" charset="-120"/>
              </a:rPr>
              <a:t>Coordinateur national, Analyste CSIRT — ou directement l'organisation elle-même (DSI, Responsable), sans dépendre exclusivement du CSIRT national.</a:t>
            </a:r>
            <a:endParaRPr lang="en-US" sz="1300" dirty="0"/>
          </a:p>
        </p:txBody>
      </p:sp>
      <p:sp>
        <p:nvSpPr>
          <p:cNvPr id="7" name="Shape 5"/>
          <p:cNvSpPr/>
          <p:nvPr/>
        </p:nvSpPr>
        <p:spPr>
          <a:xfrm>
            <a:off x="6309360" y="1828800"/>
            <a:ext cx="5257800" cy="2148840"/>
          </a:xfrm>
          <a:prstGeom prst="roundRect">
            <a:avLst>
              <a:gd name="adj" fmla="val 3830"/>
            </a:avLst>
          </a:prstGeom>
          <a:solidFill>
            <a:srgbClr val="17375E"/>
          </a:solidFill>
          <a:ln/>
        </p:spPr>
      </p:sp>
      <p:sp>
        <p:nvSpPr>
          <p:cNvPr id="8" name="Text 6"/>
          <p:cNvSpPr/>
          <p:nvPr/>
        </p:nvSpPr>
        <p:spPr>
          <a:xfrm>
            <a:off x="6629400" y="2057400"/>
            <a:ext cx="3657600" cy="457200"/>
          </a:xfrm>
          <a:prstGeom prst="rect">
            <a:avLst/>
          </a:prstGeom>
          <a:noFill/>
          <a:ln/>
        </p:spPr>
        <p:txBody>
          <a:bodyPr wrap="square" rtlCol="0" anchor="ctr"/>
          <a:lstStyle/>
          <a:p>
            <a:pPr marL="0" indent="0">
              <a:buNone/>
            </a:pPr>
            <a:r>
              <a:rPr lang="en-US" sz="1600" b="1" dirty="0">
                <a:solidFill>
                  <a:srgbClr val="C49428"/>
                </a:solidFill>
                <a:latin typeface="Cambria" pitchFamily="34" charset="0"/>
                <a:ea typeface="Cambria" pitchFamily="34" charset="-122"/>
                <a:cs typeface="Cambria" pitchFamily="34" charset="-120"/>
              </a:rPr>
              <a:t>Qui participe ?</a:t>
            </a:r>
            <a:endParaRPr lang="en-US" sz="1600" dirty="0"/>
          </a:p>
        </p:txBody>
      </p:sp>
      <p:sp>
        <p:nvSpPr>
          <p:cNvPr id="9" name="Text 7"/>
          <p:cNvSpPr/>
          <p:nvPr/>
        </p:nvSpPr>
        <p:spPr>
          <a:xfrm>
            <a:off x="6629400" y="2606040"/>
            <a:ext cx="4617720" cy="1280160"/>
          </a:xfrm>
          <a:prstGeom prst="rect">
            <a:avLst/>
          </a:prstGeom>
          <a:noFill/>
          <a:ln/>
        </p:spPr>
        <p:txBody>
          <a:bodyPr wrap="square" rtlCol="0" anchor="ctr"/>
          <a:lstStyle/>
          <a:p>
            <a:pPr marL="0" indent="0">
              <a:lnSpc>
                <a:spcPts val="1700"/>
              </a:lnSpc>
              <a:buNone/>
            </a:pPr>
            <a:r>
              <a:rPr lang="en-US" sz="1300" dirty="0">
                <a:solidFill>
                  <a:srgbClr val="D8E1EA"/>
                </a:solidFill>
                <a:latin typeface="Calibri" pitchFamily="34" charset="0"/>
                <a:ea typeface="Calibri" pitchFamily="34" charset="-122"/>
                <a:cs typeface="Calibri" pitchFamily="34" charset="-120"/>
              </a:rPr>
              <a:t>Tout chercheur avec un compte authentifié, email vérifié et MFA activé. Le périmètre exact (domaines, API, applications...) est défini par le programme.</a:t>
            </a:r>
            <a:endParaRPr lang="en-US" sz="1300" dirty="0"/>
          </a:p>
        </p:txBody>
      </p:sp>
      <p:sp>
        <p:nvSpPr>
          <p:cNvPr id="10" name="Shape 8"/>
          <p:cNvSpPr/>
          <p:nvPr/>
        </p:nvSpPr>
        <p:spPr>
          <a:xfrm>
            <a:off x="640080" y="4206240"/>
            <a:ext cx="10927080" cy="1874520"/>
          </a:xfrm>
          <a:prstGeom prst="roundRect">
            <a:avLst>
              <a:gd name="adj" fmla="val 4390"/>
            </a:avLst>
          </a:prstGeom>
          <a:solidFill>
            <a:srgbClr val="C49428"/>
          </a:solidFill>
          <a:ln/>
        </p:spPr>
      </p:sp>
      <p:sp>
        <p:nvSpPr>
          <p:cNvPr id="11" name="Text 9"/>
          <p:cNvSpPr/>
          <p:nvPr/>
        </p:nvSpPr>
        <p:spPr>
          <a:xfrm>
            <a:off x="1005840" y="4389120"/>
            <a:ext cx="9966960" cy="457200"/>
          </a:xfrm>
          <a:prstGeom prst="rect">
            <a:avLst/>
          </a:prstGeom>
          <a:noFill/>
          <a:ln/>
        </p:spPr>
        <p:txBody>
          <a:bodyPr wrap="square" rtlCol="0" anchor="ctr"/>
          <a:lstStyle/>
          <a:p>
            <a:pPr marL="0" indent="0">
              <a:buNone/>
            </a:pPr>
            <a:r>
              <a:rPr lang="en-US" sz="1600" b="1" dirty="0">
                <a:solidFill>
                  <a:srgbClr val="0D213B"/>
                </a:solidFill>
                <a:latin typeface="Cambria" pitchFamily="34" charset="0"/>
                <a:ea typeface="Cambria" pitchFamily="34" charset="-122"/>
                <a:cs typeface="Cambria" pitchFamily="34" charset="-120"/>
              </a:rPr>
              <a:t>Un seul modèle, un seul moteur</a:t>
            </a:r>
            <a:endParaRPr lang="en-US" sz="1600" dirty="0"/>
          </a:p>
        </p:txBody>
      </p:sp>
      <p:sp>
        <p:nvSpPr>
          <p:cNvPr id="12" name="Text 10"/>
          <p:cNvSpPr/>
          <p:nvPr/>
        </p:nvSpPr>
        <p:spPr>
          <a:xfrm>
            <a:off x="1005840" y="4846320"/>
            <a:ext cx="9966960" cy="1097280"/>
          </a:xfrm>
          <a:prstGeom prst="rect">
            <a:avLst/>
          </a:prstGeom>
          <a:noFill/>
          <a:ln/>
        </p:spPr>
        <p:txBody>
          <a:bodyPr wrap="square" rtlCol="0" anchor="ctr"/>
          <a:lstStyle/>
          <a:p>
            <a:pPr marL="0" indent="0">
              <a:lnSpc>
                <a:spcPts val="1700"/>
              </a:lnSpc>
              <a:buNone/>
            </a:pPr>
            <a:r>
              <a:rPr lang="en-US" sz="1300" dirty="0">
                <a:solidFill>
                  <a:srgbClr val="3A2E0B"/>
                </a:solidFill>
                <a:latin typeface="Calibri" pitchFamily="34" charset="0"/>
                <a:ea typeface="Calibri" pitchFamily="34" charset="-122"/>
                <a:cs typeface="Calibri" pitchFamily="34" charset="-120"/>
              </a:rPr>
              <a:t>VDP et Bug Bounty partagent le même périmètre, les mêmes règles, la même clause de sauvegarde légale (safe harbor) et le même moteur de gestion des dossiers. Seul le volet récompense est spécifique au Bug Bounty.</a:t>
            </a:r>
            <a:endParaRPr lang="en-US" sz="1300" dirty="0"/>
          </a:p>
        </p:txBody>
      </p:sp>
      <p:sp>
        <p:nvSpPr>
          <p:cNvPr id="13" name="Text 11"/>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RÉCOMPENSES</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Du dépôt au versement : quatre étapes, quatre rôles</a:t>
            </a:r>
            <a:endParaRPr lang="en-US" sz="3200" dirty="0"/>
          </a:p>
        </p:txBody>
      </p:sp>
      <p:sp>
        <p:nvSpPr>
          <p:cNvPr id="4" name="Shape 2"/>
          <p:cNvSpPr/>
          <p:nvPr/>
        </p:nvSpPr>
        <p:spPr>
          <a:xfrm>
            <a:off x="640080" y="1874520"/>
            <a:ext cx="2606040" cy="1965960"/>
          </a:xfrm>
          <a:prstGeom prst="roundRect">
            <a:avLst>
              <a:gd name="adj" fmla="val 4186"/>
            </a:avLst>
          </a:prstGeom>
          <a:solidFill>
            <a:srgbClr val="F6F8F9"/>
          </a:solidFill>
          <a:ln w="25400">
            <a:solidFill>
              <a:srgbClr val="0D7A5F"/>
            </a:solidFill>
            <a:prstDash val="solid"/>
          </a:ln>
        </p:spPr>
      </p:sp>
      <p:sp>
        <p:nvSpPr>
          <p:cNvPr id="5" name="Text 3"/>
          <p:cNvSpPr/>
          <p:nvPr/>
        </p:nvSpPr>
        <p:spPr>
          <a:xfrm>
            <a:off x="822960" y="2039112"/>
            <a:ext cx="548640" cy="457200"/>
          </a:xfrm>
          <a:prstGeom prst="rect">
            <a:avLst/>
          </a:prstGeom>
          <a:noFill/>
          <a:ln/>
        </p:spPr>
        <p:txBody>
          <a:bodyPr wrap="square" rtlCol="0" anchor="ctr"/>
          <a:lstStyle/>
          <a:p>
            <a:pPr marL="0" indent="0">
              <a:buNone/>
            </a:pPr>
            <a:r>
              <a:rPr lang="en-US" sz="2200" b="1" dirty="0">
                <a:solidFill>
                  <a:srgbClr val="0D7A5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822960" y="2560320"/>
            <a:ext cx="2240280" cy="457200"/>
          </a:xfrm>
          <a:prstGeom prst="rect">
            <a:avLst/>
          </a:prstGeom>
          <a:noFill/>
          <a:ln/>
        </p:spPr>
        <p:txBody>
          <a:bodyPr wrap="square" rtlCol="0" anchor="ctr"/>
          <a:lstStyle/>
          <a:p>
            <a:pPr marL="0" indent="0">
              <a:buNone/>
            </a:pPr>
            <a:r>
              <a:rPr lang="en-US" sz="1500" b="1" dirty="0">
                <a:solidFill>
                  <a:srgbClr val="0D213B"/>
                </a:solidFill>
                <a:latin typeface="Cambria" pitchFamily="34" charset="0"/>
                <a:ea typeface="Cambria" pitchFamily="34" charset="-122"/>
                <a:cs typeface="Cambria" pitchFamily="34" charset="-120"/>
              </a:rPr>
              <a:t>Proposer</a:t>
            </a:r>
            <a:endParaRPr lang="en-US" sz="1500" dirty="0"/>
          </a:p>
        </p:txBody>
      </p:sp>
      <p:sp>
        <p:nvSpPr>
          <p:cNvPr id="7" name="Text 5"/>
          <p:cNvSpPr/>
          <p:nvPr/>
        </p:nvSpPr>
        <p:spPr>
          <a:xfrm>
            <a:off x="822960" y="3017520"/>
            <a:ext cx="2240280" cy="731520"/>
          </a:xfrm>
          <a:prstGeom prst="rect">
            <a:avLst/>
          </a:prstGeom>
          <a:noFill/>
          <a:ln/>
        </p:spPr>
        <p:txBody>
          <a:bodyPr wrap="square" rtlCol="0" anchor="ctr"/>
          <a:lstStyle/>
          <a:p>
            <a:pPr marL="0" indent="0">
              <a:lnSpc>
                <a:spcPts val="1400"/>
              </a:lnSpc>
              <a:buNone/>
            </a:pPr>
            <a:r>
              <a:rPr lang="en-US" sz="1100" dirty="0">
                <a:solidFill>
                  <a:srgbClr val="6E7884"/>
                </a:solidFill>
                <a:latin typeface="Calibri" pitchFamily="34" charset="0"/>
                <a:ea typeface="Calibri" pitchFamily="34" charset="-122"/>
                <a:cs typeface="Calibri" pitchFamily="34" charset="-120"/>
              </a:rPr>
              <a:t>Coordinateur, Analyste CSIRT, DSI, Responsable d'organisation</a:t>
            </a:r>
            <a:endParaRPr lang="en-US" sz="1100" dirty="0"/>
          </a:p>
        </p:txBody>
      </p:sp>
      <p:sp>
        <p:nvSpPr>
          <p:cNvPr id="8" name="Text 6"/>
          <p:cNvSpPr/>
          <p:nvPr/>
        </p:nvSpPr>
        <p:spPr>
          <a:xfrm>
            <a:off x="3246120" y="2606040"/>
            <a:ext cx="201168" cy="457200"/>
          </a:xfrm>
          <a:prstGeom prst="rect">
            <a:avLst/>
          </a:prstGeom>
          <a:noFill/>
          <a:ln/>
        </p:spPr>
        <p:txBody>
          <a:bodyPr wrap="square" rtlCol="0" anchor="ctr"/>
          <a:lstStyle/>
          <a:p>
            <a:pPr marL="0" indent="0" algn="ctr">
              <a:buNone/>
            </a:pPr>
            <a:r>
              <a:rPr lang="en-US" sz="1600" dirty="0">
                <a:solidFill>
                  <a:srgbClr val="6E7884"/>
                </a:solidFill>
              </a:rPr>
              <a:t>→</a:t>
            </a:r>
            <a:endParaRPr lang="en-US" sz="1600" dirty="0"/>
          </a:p>
        </p:txBody>
      </p:sp>
      <p:sp>
        <p:nvSpPr>
          <p:cNvPr id="9" name="Shape 7"/>
          <p:cNvSpPr/>
          <p:nvPr/>
        </p:nvSpPr>
        <p:spPr>
          <a:xfrm>
            <a:off x="3447288" y="1874520"/>
            <a:ext cx="2606040" cy="1965960"/>
          </a:xfrm>
          <a:prstGeom prst="roundRect">
            <a:avLst>
              <a:gd name="adj" fmla="val 4186"/>
            </a:avLst>
          </a:prstGeom>
          <a:solidFill>
            <a:srgbClr val="F6F8F9"/>
          </a:solidFill>
          <a:ln w="25400">
            <a:solidFill>
              <a:srgbClr val="0D7A5F"/>
            </a:solidFill>
            <a:prstDash val="solid"/>
          </a:ln>
        </p:spPr>
      </p:sp>
      <p:sp>
        <p:nvSpPr>
          <p:cNvPr id="10" name="Text 8"/>
          <p:cNvSpPr/>
          <p:nvPr/>
        </p:nvSpPr>
        <p:spPr>
          <a:xfrm>
            <a:off x="3630168" y="2039112"/>
            <a:ext cx="548640" cy="457200"/>
          </a:xfrm>
          <a:prstGeom prst="rect">
            <a:avLst/>
          </a:prstGeom>
          <a:noFill/>
          <a:ln/>
        </p:spPr>
        <p:txBody>
          <a:bodyPr wrap="square" rtlCol="0" anchor="ctr"/>
          <a:lstStyle/>
          <a:p>
            <a:pPr marL="0" indent="0">
              <a:buNone/>
            </a:pPr>
            <a:r>
              <a:rPr lang="en-US" sz="2200" b="1" dirty="0">
                <a:solidFill>
                  <a:srgbClr val="0D7A5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630168" y="2560320"/>
            <a:ext cx="2240280" cy="457200"/>
          </a:xfrm>
          <a:prstGeom prst="rect">
            <a:avLst/>
          </a:prstGeom>
          <a:noFill/>
          <a:ln/>
        </p:spPr>
        <p:txBody>
          <a:bodyPr wrap="square" rtlCol="0" anchor="ctr"/>
          <a:lstStyle/>
          <a:p>
            <a:pPr marL="0" indent="0">
              <a:buNone/>
            </a:pPr>
            <a:r>
              <a:rPr lang="en-US" sz="1500" b="1" dirty="0">
                <a:solidFill>
                  <a:srgbClr val="0D213B"/>
                </a:solidFill>
                <a:latin typeface="Cambria" pitchFamily="34" charset="0"/>
                <a:ea typeface="Cambria" pitchFamily="34" charset="-122"/>
                <a:cs typeface="Cambria" pitchFamily="34" charset="-120"/>
              </a:rPr>
              <a:t>Revoir</a:t>
            </a:r>
            <a:endParaRPr lang="en-US" sz="1500" dirty="0"/>
          </a:p>
        </p:txBody>
      </p:sp>
      <p:sp>
        <p:nvSpPr>
          <p:cNvPr id="12" name="Text 10"/>
          <p:cNvSpPr/>
          <p:nvPr/>
        </p:nvSpPr>
        <p:spPr>
          <a:xfrm>
            <a:off x="3630168" y="3017520"/>
            <a:ext cx="2240280" cy="731520"/>
          </a:xfrm>
          <a:prstGeom prst="rect">
            <a:avLst/>
          </a:prstGeom>
          <a:noFill/>
          <a:ln/>
        </p:spPr>
        <p:txBody>
          <a:bodyPr wrap="square" rtlCol="0" anchor="ctr"/>
          <a:lstStyle/>
          <a:p>
            <a:pPr marL="0" indent="0">
              <a:lnSpc>
                <a:spcPts val="1400"/>
              </a:lnSpc>
              <a:buNone/>
            </a:pPr>
            <a:r>
              <a:rPr lang="en-US" sz="1100" dirty="0">
                <a:solidFill>
                  <a:srgbClr val="6E7884"/>
                </a:solidFill>
                <a:latin typeface="Calibri" pitchFamily="34" charset="0"/>
                <a:ea typeface="Calibri" pitchFamily="34" charset="-122"/>
                <a:cs typeface="Calibri" pitchFamily="34" charset="-120"/>
              </a:rPr>
              <a:t>Avis déposé — pas encore une décision finale</a:t>
            </a:r>
            <a:endParaRPr lang="en-US" sz="1100" dirty="0"/>
          </a:p>
        </p:txBody>
      </p:sp>
      <p:sp>
        <p:nvSpPr>
          <p:cNvPr id="13" name="Text 11"/>
          <p:cNvSpPr/>
          <p:nvPr/>
        </p:nvSpPr>
        <p:spPr>
          <a:xfrm>
            <a:off x="6053328" y="2606040"/>
            <a:ext cx="201168" cy="457200"/>
          </a:xfrm>
          <a:prstGeom prst="rect">
            <a:avLst/>
          </a:prstGeom>
          <a:noFill/>
          <a:ln/>
        </p:spPr>
        <p:txBody>
          <a:bodyPr wrap="square" rtlCol="0" anchor="ctr"/>
          <a:lstStyle/>
          <a:p>
            <a:pPr marL="0" indent="0" algn="ctr">
              <a:buNone/>
            </a:pPr>
            <a:r>
              <a:rPr lang="en-US" sz="1600" dirty="0">
                <a:solidFill>
                  <a:srgbClr val="6E7884"/>
                </a:solidFill>
              </a:rPr>
              <a:t>→</a:t>
            </a:r>
            <a:endParaRPr lang="en-US" sz="1600" dirty="0"/>
          </a:p>
        </p:txBody>
      </p:sp>
      <p:sp>
        <p:nvSpPr>
          <p:cNvPr id="14" name="Shape 12"/>
          <p:cNvSpPr/>
          <p:nvPr/>
        </p:nvSpPr>
        <p:spPr>
          <a:xfrm>
            <a:off x="6254496" y="1874520"/>
            <a:ext cx="2606040" cy="1965960"/>
          </a:xfrm>
          <a:prstGeom prst="roundRect">
            <a:avLst>
              <a:gd name="adj" fmla="val 4186"/>
            </a:avLst>
          </a:prstGeom>
          <a:solidFill>
            <a:srgbClr val="F6F8F9"/>
          </a:solidFill>
          <a:ln w="25400">
            <a:solidFill>
              <a:srgbClr val="C49428"/>
            </a:solidFill>
            <a:prstDash val="solid"/>
          </a:ln>
        </p:spPr>
      </p:sp>
      <p:sp>
        <p:nvSpPr>
          <p:cNvPr id="15" name="Text 13"/>
          <p:cNvSpPr/>
          <p:nvPr/>
        </p:nvSpPr>
        <p:spPr>
          <a:xfrm>
            <a:off x="6437376" y="2039112"/>
            <a:ext cx="548640" cy="457200"/>
          </a:xfrm>
          <a:prstGeom prst="rect">
            <a:avLst/>
          </a:prstGeom>
          <a:noFill/>
          <a:ln/>
        </p:spPr>
        <p:txBody>
          <a:bodyPr wrap="square" rtlCol="0" anchor="ctr"/>
          <a:lstStyle/>
          <a:p>
            <a:pPr marL="0" indent="0">
              <a:buNone/>
            </a:pPr>
            <a:r>
              <a:rPr lang="en-US" sz="2200" b="1" dirty="0">
                <a:solidFill>
                  <a:srgbClr val="C49428"/>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6437376" y="2560320"/>
            <a:ext cx="2240280" cy="457200"/>
          </a:xfrm>
          <a:prstGeom prst="rect">
            <a:avLst/>
          </a:prstGeom>
          <a:noFill/>
          <a:ln/>
        </p:spPr>
        <p:txBody>
          <a:bodyPr wrap="square" rtlCol="0" anchor="ctr"/>
          <a:lstStyle/>
          <a:p>
            <a:pPr marL="0" indent="0">
              <a:buNone/>
            </a:pPr>
            <a:r>
              <a:rPr lang="en-US" sz="1500" b="1" dirty="0">
                <a:solidFill>
                  <a:srgbClr val="0D213B"/>
                </a:solidFill>
                <a:latin typeface="Cambria" pitchFamily="34" charset="0"/>
                <a:ea typeface="Cambria" pitchFamily="34" charset="-122"/>
                <a:cs typeface="Cambria" pitchFamily="34" charset="-120"/>
              </a:rPr>
              <a:t>Approuver</a:t>
            </a:r>
            <a:endParaRPr lang="en-US" sz="1500" dirty="0"/>
          </a:p>
        </p:txBody>
      </p:sp>
      <p:sp>
        <p:nvSpPr>
          <p:cNvPr id="17" name="Text 15"/>
          <p:cNvSpPr/>
          <p:nvPr/>
        </p:nvSpPr>
        <p:spPr>
          <a:xfrm>
            <a:off x="6437376" y="3017520"/>
            <a:ext cx="2240280" cy="731520"/>
          </a:xfrm>
          <a:prstGeom prst="rect">
            <a:avLst/>
          </a:prstGeom>
          <a:noFill/>
          <a:ln/>
        </p:spPr>
        <p:txBody>
          <a:bodyPr wrap="square" rtlCol="0" anchor="ctr"/>
          <a:lstStyle/>
          <a:p>
            <a:pPr marL="0" indent="0">
              <a:lnSpc>
                <a:spcPts val="1400"/>
              </a:lnSpc>
              <a:buNone/>
            </a:pPr>
            <a:r>
              <a:rPr lang="en-US" sz="1100" dirty="0">
                <a:solidFill>
                  <a:srgbClr val="6E7884"/>
                </a:solidFill>
                <a:latin typeface="Calibri" pitchFamily="34" charset="0"/>
                <a:ea typeface="Calibri" pitchFamily="34" charset="-122"/>
                <a:cs typeface="Calibri" pitchFamily="34" charset="-120"/>
              </a:rPr>
              <a:t>Coordinateur national uniquement</a:t>
            </a:r>
            <a:endParaRPr lang="en-US" sz="1100" dirty="0"/>
          </a:p>
        </p:txBody>
      </p:sp>
      <p:sp>
        <p:nvSpPr>
          <p:cNvPr id="18" name="Text 16"/>
          <p:cNvSpPr/>
          <p:nvPr/>
        </p:nvSpPr>
        <p:spPr>
          <a:xfrm>
            <a:off x="8860536" y="2606040"/>
            <a:ext cx="201168" cy="457200"/>
          </a:xfrm>
          <a:prstGeom prst="rect">
            <a:avLst/>
          </a:prstGeom>
          <a:noFill/>
          <a:ln/>
        </p:spPr>
        <p:txBody>
          <a:bodyPr wrap="square" rtlCol="0" anchor="ctr"/>
          <a:lstStyle/>
          <a:p>
            <a:pPr marL="0" indent="0" algn="ctr">
              <a:buNone/>
            </a:pPr>
            <a:r>
              <a:rPr lang="en-US" sz="1600" dirty="0">
                <a:solidFill>
                  <a:srgbClr val="6E7884"/>
                </a:solidFill>
              </a:rPr>
              <a:t>→</a:t>
            </a:r>
            <a:endParaRPr lang="en-US" sz="1600" dirty="0"/>
          </a:p>
        </p:txBody>
      </p:sp>
      <p:sp>
        <p:nvSpPr>
          <p:cNvPr id="19" name="Shape 17"/>
          <p:cNvSpPr/>
          <p:nvPr/>
        </p:nvSpPr>
        <p:spPr>
          <a:xfrm>
            <a:off x="9061704" y="1874520"/>
            <a:ext cx="2606040" cy="1965960"/>
          </a:xfrm>
          <a:prstGeom prst="roundRect">
            <a:avLst>
              <a:gd name="adj" fmla="val 4186"/>
            </a:avLst>
          </a:prstGeom>
          <a:solidFill>
            <a:srgbClr val="F6F8F9"/>
          </a:solidFill>
          <a:ln w="25400">
            <a:solidFill>
              <a:srgbClr val="C49428"/>
            </a:solidFill>
            <a:prstDash val="solid"/>
          </a:ln>
        </p:spPr>
      </p:sp>
      <p:sp>
        <p:nvSpPr>
          <p:cNvPr id="20" name="Text 18"/>
          <p:cNvSpPr/>
          <p:nvPr/>
        </p:nvSpPr>
        <p:spPr>
          <a:xfrm>
            <a:off x="9244584" y="2039112"/>
            <a:ext cx="548640" cy="457200"/>
          </a:xfrm>
          <a:prstGeom prst="rect">
            <a:avLst/>
          </a:prstGeom>
          <a:noFill/>
          <a:ln/>
        </p:spPr>
        <p:txBody>
          <a:bodyPr wrap="square" rtlCol="0" anchor="ctr"/>
          <a:lstStyle/>
          <a:p>
            <a:pPr marL="0" indent="0">
              <a:buNone/>
            </a:pPr>
            <a:r>
              <a:rPr lang="en-US" sz="2200" b="1" dirty="0">
                <a:solidFill>
                  <a:srgbClr val="C49428"/>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9244584" y="2560320"/>
            <a:ext cx="2240280" cy="457200"/>
          </a:xfrm>
          <a:prstGeom prst="rect">
            <a:avLst/>
          </a:prstGeom>
          <a:noFill/>
          <a:ln/>
        </p:spPr>
        <p:txBody>
          <a:bodyPr wrap="square" rtlCol="0" anchor="ctr"/>
          <a:lstStyle/>
          <a:p>
            <a:pPr marL="0" indent="0">
              <a:buNone/>
            </a:pPr>
            <a:r>
              <a:rPr lang="en-US" sz="1500" b="1" dirty="0">
                <a:solidFill>
                  <a:srgbClr val="0D213B"/>
                </a:solidFill>
                <a:latin typeface="Cambria" pitchFamily="34" charset="0"/>
                <a:ea typeface="Cambria" pitchFamily="34" charset="-122"/>
                <a:cs typeface="Cambria" pitchFamily="34" charset="-120"/>
              </a:rPr>
              <a:t>Enregistrer le paiement</a:t>
            </a:r>
            <a:endParaRPr lang="en-US" sz="1500" dirty="0"/>
          </a:p>
        </p:txBody>
      </p:sp>
      <p:sp>
        <p:nvSpPr>
          <p:cNvPr id="22" name="Text 20"/>
          <p:cNvSpPr/>
          <p:nvPr/>
        </p:nvSpPr>
        <p:spPr>
          <a:xfrm>
            <a:off x="9244584" y="3017520"/>
            <a:ext cx="2240280" cy="731520"/>
          </a:xfrm>
          <a:prstGeom prst="rect">
            <a:avLst/>
          </a:prstGeom>
          <a:noFill/>
          <a:ln/>
        </p:spPr>
        <p:txBody>
          <a:bodyPr wrap="square" rtlCol="0" anchor="ctr"/>
          <a:lstStyle/>
          <a:p>
            <a:pPr marL="0" indent="0">
              <a:lnSpc>
                <a:spcPts val="1400"/>
              </a:lnSpc>
              <a:buNone/>
            </a:pPr>
            <a:r>
              <a:rPr lang="en-US" sz="1100" dirty="0">
                <a:solidFill>
                  <a:srgbClr val="6E7884"/>
                </a:solidFill>
                <a:latin typeface="Calibri" pitchFamily="34" charset="0"/>
                <a:ea typeface="Calibri" pitchFamily="34" charset="-122"/>
                <a:cs typeface="Calibri" pitchFamily="34" charset="-120"/>
              </a:rPr>
              <a:t>Trace comptable, capacité très restreinte</a:t>
            </a:r>
            <a:endParaRPr lang="en-US" sz="1100" dirty="0"/>
          </a:p>
        </p:txBody>
      </p:sp>
      <p:sp>
        <p:nvSpPr>
          <p:cNvPr id="23" name="Shape 21"/>
          <p:cNvSpPr/>
          <p:nvPr/>
        </p:nvSpPr>
        <p:spPr>
          <a:xfrm>
            <a:off x="640080" y="4251960"/>
            <a:ext cx="10927080" cy="1828800"/>
          </a:xfrm>
          <a:prstGeom prst="roundRect">
            <a:avLst>
              <a:gd name="adj" fmla="val 4500"/>
            </a:avLst>
          </a:prstGeom>
          <a:solidFill>
            <a:srgbClr val="FAE3E3"/>
          </a:solidFill>
          <a:ln w="12700">
            <a:solidFill>
              <a:srgbClr val="B03A3A"/>
            </a:solidFill>
            <a:prstDash val="solid"/>
          </a:ln>
        </p:spPr>
      </p:sp>
      <p:sp>
        <p:nvSpPr>
          <p:cNvPr id="24" name="Text 22"/>
          <p:cNvSpPr/>
          <p:nvPr/>
        </p:nvSpPr>
        <p:spPr>
          <a:xfrm>
            <a:off x="914400" y="4434840"/>
            <a:ext cx="10058400" cy="411480"/>
          </a:xfrm>
          <a:prstGeom prst="rect">
            <a:avLst/>
          </a:prstGeom>
          <a:noFill/>
          <a:ln/>
        </p:spPr>
        <p:txBody>
          <a:bodyPr wrap="square" rtlCol="0" anchor="ctr"/>
          <a:lstStyle/>
          <a:p>
            <a:pPr marL="0" indent="0">
              <a:buNone/>
            </a:pPr>
            <a:r>
              <a:rPr lang="en-US" sz="1500" b="1" dirty="0">
                <a:solidFill>
                  <a:srgbClr val="B03A3A"/>
                </a:solidFill>
                <a:latin typeface="Cambria" pitchFamily="34" charset="0"/>
                <a:ea typeface="Cambria" pitchFamily="34" charset="-122"/>
                <a:cs typeface="Cambria" pitchFamily="34" charset="-120"/>
              </a:rPr>
              <a:t>Auto-approbation explicitement bloquée par le code</a:t>
            </a:r>
            <a:endParaRPr lang="en-US" sz="1500" dirty="0"/>
          </a:p>
        </p:txBody>
      </p:sp>
      <p:sp>
        <p:nvSpPr>
          <p:cNvPr id="25" name="Text 23"/>
          <p:cNvSpPr/>
          <p:nvPr/>
        </p:nvSpPr>
        <p:spPr>
          <a:xfrm>
            <a:off x="914400" y="4846320"/>
            <a:ext cx="10332720" cy="1143000"/>
          </a:xfrm>
          <a:prstGeom prst="rect">
            <a:avLst/>
          </a:prstGeom>
          <a:noFill/>
          <a:ln/>
        </p:spPr>
        <p:txBody>
          <a:bodyPr wrap="square" rtlCol="0" anchor="ctr"/>
          <a:lstStyle/>
          <a:p>
            <a:pPr marL="0" indent="0">
              <a:lnSpc>
                <a:spcPts val="1700"/>
              </a:lnSpc>
              <a:buNone/>
            </a:pPr>
            <a:r>
              <a:rPr lang="en-US" sz="1250" dirty="0">
                <a:solidFill>
                  <a:srgbClr val="5A2323"/>
                </a:solidFill>
                <a:latin typeface="Calibri" pitchFamily="34" charset="0"/>
                <a:ea typeface="Calibri" pitchFamily="34" charset="-122"/>
                <a:cs typeface="Calibri" pitchFamily="34" charset="-120"/>
              </a:rPr>
              <a:t>La personne qui propose une récompense ne peut jamais l'approuver elle-même — vérifié programmatiquement. Le système ne déclenche aucun flux financier réel : chaque paiement est une trace comptable (méthode, référence), une intégration avec un prestataire de paiement viendra s'y brancher plus tard.</a:t>
            </a:r>
            <a:endParaRPr lang="en-US" sz="1250" dirty="0"/>
          </a:p>
        </p:txBody>
      </p:sp>
      <p:sp>
        <p:nvSpPr>
          <p:cNvPr id="26" name="Text 24"/>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9"/>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200" b="1" kern="0" spc="200" dirty="0">
                <a:solidFill>
                  <a:srgbClr val="0D7A5F"/>
                </a:solidFill>
                <a:latin typeface="Calibri" pitchFamily="34" charset="0"/>
                <a:ea typeface="Calibri" pitchFamily="34" charset="-122"/>
                <a:cs typeface="Calibri" pitchFamily="34" charset="-120"/>
              </a:rPr>
              <a:t>CONFIANCE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marL="0" indent="0" algn="l">
              <a:buNone/>
            </a:pPr>
            <a:r>
              <a:rPr lang="en-US" sz="3200" b="1" dirty="0">
                <a:solidFill>
                  <a:srgbClr val="0D213B"/>
                </a:solidFill>
                <a:latin typeface="Cambria" pitchFamily="34" charset="0"/>
                <a:ea typeface="Cambria" pitchFamily="34" charset="-122"/>
                <a:cs typeface="Cambria" pitchFamily="34" charset="-120"/>
              </a:rPr>
              <a:t>Sécurité et gouvernance intégrées par conception</a:t>
            </a:r>
            <a:endParaRPr lang="en-US" sz="3200" dirty="0"/>
          </a:p>
        </p:txBody>
      </p:sp>
      <p:sp>
        <p:nvSpPr>
          <p:cNvPr id="4" name="Shape 2"/>
          <p:cNvSpPr/>
          <p:nvPr/>
        </p:nvSpPr>
        <p:spPr>
          <a:xfrm>
            <a:off x="640080" y="1783080"/>
            <a:ext cx="3520440" cy="1783080"/>
          </a:xfrm>
          <a:prstGeom prst="roundRect">
            <a:avLst>
              <a:gd name="adj" fmla="val 4615"/>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5" name="Shape 3"/>
          <p:cNvSpPr/>
          <p:nvPr/>
        </p:nvSpPr>
        <p:spPr>
          <a:xfrm>
            <a:off x="868680" y="2011680"/>
            <a:ext cx="640080" cy="640080"/>
          </a:xfrm>
          <a:prstGeom prst="roundRect">
            <a:avLst>
              <a:gd name="adj" fmla="val 20000"/>
            </a:avLst>
          </a:prstGeom>
          <a:solidFill>
            <a:srgbClr val="0D213B"/>
          </a:solidFill>
          <a:ln/>
        </p:spPr>
      </p:sp>
      <p:sp>
        <p:nvSpPr>
          <p:cNvPr id="6" name="Text 4"/>
          <p:cNvSpPr/>
          <p:nvPr/>
        </p:nvSpPr>
        <p:spPr>
          <a:xfrm>
            <a:off x="868680" y="2011680"/>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868680" y="2743200"/>
            <a:ext cx="3063240" cy="365760"/>
          </a:xfrm>
          <a:prstGeom prst="rect">
            <a:avLst/>
          </a:prstGeom>
          <a:noFill/>
          <a:ln/>
        </p:spPr>
        <p:txBody>
          <a:bodyPr wrap="square" rtlCol="0" anchor="ctr"/>
          <a:lstStyle/>
          <a:p>
            <a:pPr marL="0" indent="0">
              <a:buNone/>
            </a:pPr>
            <a:r>
              <a:rPr lang="en-US" sz="1350" b="1" dirty="0">
                <a:solidFill>
                  <a:srgbClr val="0D213B"/>
                </a:solidFill>
                <a:latin typeface="Cambria" pitchFamily="34" charset="0"/>
                <a:ea typeface="Cambria" pitchFamily="34" charset="-122"/>
                <a:cs typeface="Cambria" pitchFamily="34" charset="-120"/>
              </a:rPr>
              <a:t>MFA obligatoire</a:t>
            </a:r>
            <a:endParaRPr lang="en-US" sz="1350" dirty="0"/>
          </a:p>
        </p:txBody>
      </p:sp>
      <p:sp>
        <p:nvSpPr>
          <p:cNvPr id="8" name="Text 6"/>
          <p:cNvSpPr/>
          <p:nvPr/>
        </p:nvSpPr>
        <p:spPr>
          <a:xfrm>
            <a:off x="868680" y="3063240"/>
            <a:ext cx="3063240" cy="457200"/>
          </a:xfrm>
          <a:prstGeom prst="rect">
            <a:avLst/>
          </a:prstGeom>
          <a:noFill/>
          <a:ln/>
        </p:spPr>
        <p:txBody>
          <a:bodyPr wrap="square" rtlCol="0" anchor="ctr"/>
          <a:lstStyle/>
          <a:p>
            <a:pPr marL="0" indent="0">
              <a:lnSpc>
                <a:spcPts val="1300"/>
              </a:lnSpc>
              <a:buNone/>
            </a:pPr>
            <a:r>
              <a:rPr lang="en-US" sz="1050" dirty="0">
                <a:solidFill>
                  <a:srgbClr val="6E7884"/>
                </a:solidFill>
                <a:latin typeface="Calibri" pitchFamily="34" charset="0"/>
                <a:ea typeface="Calibri" pitchFamily="34" charset="-122"/>
                <a:cs typeface="Calibri" pitchFamily="34" charset="-120"/>
              </a:rPr>
              <a:t>Pour tous les rôles nationaux et d'organisation — pas en option.</a:t>
            </a:r>
            <a:endParaRPr lang="en-US" sz="1050" dirty="0"/>
          </a:p>
        </p:txBody>
      </p:sp>
      <p:sp>
        <p:nvSpPr>
          <p:cNvPr id="9" name="Shape 7"/>
          <p:cNvSpPr/>
          <p:nvPr/>
        </p:nvSpPr>
        <p:spPr>
          <a:xfrm>
            <a:off x="4480560" y="1783080"/>
            <a:ext cx="3520440" cy="1783080"/>
          </a:xfrm>
          <a:prstGeom prst="roundRect">
            <a:avLst>
              <a:gd name="adj" fmla="val 4615"/>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10" name="Shape 8"/>
          <p:cNvSpPr/>
          <p:nvPr/>
        </p:nvSpPr>
        <p:spPr>
          <a:xfrm>
            <a:off x="4709160" y="2011680"/>
            <a:ext cx="640080" cy="640080"/>
          </a:xfrm>
          <a:prstGeom prst="roundRect">
            <a:avLst>
              <a:gd name="adj" fmla="val 20000"/>
            </a:avLst>
          </a:prstGeom>
          <a:solidFill>
            <a:srgbClr val="0D213B"/>
          </a:solidFill>
          <a:ln/>
        </p:spPr>
      </p:sp>
      <p:sp>
        <p:nvSpPr>
          <p:cNvPr id="11" name="Text 9"/>
          <p:cNvSpPr/>
          <p:nvPr/>
        </p:nvSpPr>
        <p:spPr>
          <a:xfrm>
            <a:off x="4709160" y="2011680"/>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4709160" y="2743200"/>
            <a:ext cx="3063240" cy="365760"/>
          </a:xfrm>
          <a:prstGeom prst="rect">
            <a:avLst/>
          </a:prstGeom>
          <a:noFill/>
          <a:ln/>
        </p:spPr>
        <p:txBody>
          <a:bodyPr wrap="square" rtlCol="0" anchor="ctr"/>
          <a:lstStyle/>
          <a:p>
            <a:pPr marL="0" indent="0">
              <a:buNone/>
            </a:pPr>
            <a:r>
              <a:rPr lang="en-US" sz="1350" b="1" dirty="0">
                <a:solidFill>
                  <a:srgbClr val="0D213B"/>
                </a:solidFill>
                <a:latin typeface="Cambria" pitchFamily="34" charset="0"/>
                <a:ea typeface="Cambria" pitchFamily="34" charset="-122"/>
                <a:cs typeface="Cambria" pitchFamily="34" charset="-120"/>
              </a:rPr>
              <a:t>Traçabilité intégrale</a:t>
            </a:r>
            <a:endParaRPr lang="en-US" sz="1350" dirty="0"/>
          </a:p>
        </p:txBody>
      </p:sp>
      <p:sp>
        <p:nvSpPr>
          <p:cNvPr id="13" name="Text 11"/>
          <p:cNvSpPr/>
          <p:nvPr/>
        </p:nvSpPr>
        <p:spPr>
          <a:xfrm>
            <a:off x="4709160" y="3063240"/>
            <a:ext cx="3063240" cy="457200"/>
          </a:xfrm>
          <a:prstGeom prst="rect">
            <a:avLst/>
          </a:prstGeom>
          <a:noFill/>
          <a:ln/>
        </p:spPr>
        <p:txBody>
          <a:bodyPr wrap="square" rtlCol="0" anchor="ctr"/>
          <a:lstStyle/>
          <a:p>
            <a:pPr marL="0" indent="0">
              <a:lnSpc>
                <a:spcPts val="1300"/>
              </a:lnSpc>
              <a:buNone/>
            </a:pPr>
            <a:r>
              <a:rPr lang="en-US" sz="1050" dirty="0">
                <a:solidFill>
                  <a:srgbClr val="6E7884"/>
                </a:solidFill>
                <a:latin typeface="Calibri" pitchFamily="34" charset="0"/>
                <a:ea typeface="Calibri" pitchFamily="34" charset="-122"/>
                <a:cs typeface="Calibri" pitchFamily="34" charset="-120"/>
              </a:rPr>
              <a:t>Chaque transition, chaque refus est journalisé dans l'audit.</a:t>
            </a:r>
            <a:endParaRPr lang="en-US" sz="1050" dirty="0"/>
          </a:p>
        </p:txBody>
      </p:sp>
      <p:sp>
        <p:nvSpPr>
          <p:cNvPr id="14" name="Shape 12"/>
          <p:cNvSpPr/>
          <p:nvPr/>
        </p:nvSpPr>
        <p:spPr>
          <a:xfrm>
            <a:off x="8321040" y="1783080"/>
            <a:ext cx="3520440" cy="1783080"/>
          </a:xfrm>
          <a:prstGeom prst="roundRect">
            <a:avLst>
              <a:gd name="adj" fmla="val 4615"/>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15" name="Shape 13"/>
          <p:cNvSpPr/>
          <p:nvPr/>
        </p:nvSpPr>
        <p:spPr>
          <a:xfrm>
            <a:off x="8549640" y="2011680"/>
            <a:ext cx="640080" cy="640080"/>
          </a:xfrm>
          <a:prstGeom prst="roundRect">
            <a:avLst>
              <a:gd name="adj" fmla="val 20000"/>
            </a:avLst>
          </a:prstGeom>
          <a:solidFill>
            <a:srgbClr val="0D213B"/>
          </a:solidFill>
          <a:ln/>
        </p:spPr>
      </p:sp>
      <p:sp>
        <p:nvSpPr>
          <p:cNvPr id="16" name="Text 14"/>
          <p:cNvSpPr/>
          <p:nvPr/>
        </p:nvSpPr>
        <p:spPr>
          <a:xfrm>
            <a:off x="8549640" y="2011680"/>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8549640" y="2743200"/>
            <a:ext cx="3063240" cy="365760"/>
          </a:xfrm>
          <a:prstGeom prst="rect">
            <a:avLst/>
          </a:prstGeom>
          <a:noFill/>
          <a:ln/>
        </p:spPr>
        <p:txBody>
          <a:bodyPr wrap="square" rtlCol="0" anchor="ctr"/>
          <a:lstStyle/>
          <a:p>
            <a:pPr marL="0" indent="0">
              <a:buNone/>
            </a:pPr>
            <a:r>
              <a:rPr lang="en-US" sz="1350" b="1" dirty="0">
                <a:solidFill>
                  <a:srgbClr val="0D213B"/>
                </a:solidFill>
                <a:latin typeface="Cambria" pitchFamily="34" charset="0"/>
                <a:ea typeface="Cambria" pitchFamily="34" charset="-122"/>
                <a:cs typeface="Cambria" pitchFamily="34" charset="-120"/>
              </a:rPr>
              <a:t>Séparation des tâches</a:t>
            </a:r>
            <a:endParaRPr lang="en-US" sz="1350" dirty="0"/>
          </a:p>
        </p:txBody>
      </p:sp>
      <p:sp>
        <p:nvSpPr>
          <p:cNvPr id="18" name="Text 16"/>
          <p:cNvSpPr/>
          <p:nvPr/>
        </p:nvSpPr>
        <p:spPr>
          <a:xfrm>
            <a:off x="8549640" y="3063240"/>
            <a:ext cx="3063240" cy="457200"/>
          </a:xfrm>
          <a:prstGeom prst="rect">
            <a:avLst/>
          </a:prstGeom>
          <a:noFill/>
          <a:ln/>
        </p:spPr>
        <p:txBody>
          <a:bodyPr wrap="square" rtlCol="0" anchor="ctr"/>
          <a:lstStyle/>
          <a:p>
            <a:pPr marL="0" indent="0">
              <a:lnSpc>
                <a:spcPts val="1300"/>
              </a:lnSpc>
              <a:buNone/>
            </a:pPr>
            <a:r>
              <a:rPr lang="en-US" sz="1050" dirty="0">
                <a:solidFill>
                  <a:srgbClr val="6E7884"/>
                </a:solidFill>
                <a:latin typeface="Calibri" pitchFamily="34" charset="0"/>
                <a:ea typeface="Calibri" pitchFamily="34" charset="-122"/>
                <a:cs typeface="Calibri" pitchFamily="34" charset="-120"/>
              </a:rPr>
              <a:t>Proposer ≠ approuver ; rédiger ≠ publier — jamais la même personne.</a:t>
            </a:r>
            <a:endParaRPr lang="en-US" sz="1050" dirty="0"/>
          </a:p>
        </p:txBody>
      </p:sp>
      <p:sp>
        <p:nvSpPr>
          <p:cNvPr id="19" name="Shape 17"/>
          <p:cNvSpPr/>
          <p:nvPr/>
        </p:nvSpPr>
        <p:spPr>
          <a:xfrm>
            <a:off x="640080" y="3840480"/>
            <a:ext cx="3520440" cy="1783080"/>
          </a:xfrm>
          <a:prstGeom prst="roundRect">
            <a:avLst>
              <a:gd name="adj" fmla="val 4615"/>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20" name="Shape 18"/>
          <p:cNvSpPr/>
          <p:nvPr/>
        </p:nvSpPr>
        <p:spPr>
          <a:xfrm>
            <a:off x="868680" y="4069080"/>
            <a:ext cx="640080" cy="640080"/>
          </a:xfrm>
          <a:prstGeom prst="roundRect">
            <a:avLst>
              <a:gd name="adj" fmla="val 20000"/>
            </a:avLst>
          </a:prstGeom>
          <a:solidFill>
            <a:srgbClr val="0D213B"/>
          </a:solidFill>
          <a:ln/>
        </p:spPr>
      </p:sp>
      <p:sp>
        <p:nvSpPr>
          <p:cNvPr id="21" name="Text 19"/>
          <p:cNvSpPr/>
          <p:nvPr/>
        </p:nvSpPr>
        <p:spPr>
          <a:xfrm>
            <a:off x="868680" y="4069080"/>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868680" y="4800600"/>
            <a:ext cx="3063240" cy="365760"/>
          </a:xfrm>
          <a:prstGeom prst="rect">
            <a:avLst/>
          </a:prstGeom>
          <a:noFill/>
          <a:ln/>
        </p:spPr>
        <p:txBody>
          <a:bodyPr wrap="square" rtlCol="0" anchor="ctr"/>
          <a:lstStyle/>
          <a:p>
            <a:pPr marL="0" indent="0">
              <a:buNone/>
            </a:pPr>
            <a:r>
              <a:rPr lang="en-US" sz="1350" b="1" dirty="0">
                <a:solidFill>
                  <a:srgbClr val="0D213B"/>
                </a:solidFill>
                <a:latin typeface="Cambria" pitchFamily="34" charset="0"/>
                <a:ea typeface="Cambria" pitchFamily="34" charset="-122"/>
                <a:cs typeface="Cambria" pitchFamily="34" charset="-120"/>
              </a:rPr>
              <a:t>CVSS calculé localement</a:t>
            </a:r>
            <a:endParaRPr lang="en-US" sz="1350" dirty="0"/>
          </a:p>
        </p:txBody>
      </p:sp>
      <p:sp>
        <p:nvSpPr>
          <p:cNvPr id="23" name="Text 21"/>
          <p:cNvSpPr/>
          <p:nvPr/>
        </p:nvSpPr>
        <p:spPr>
          <a:xfrm>
            <a:off x="868680" y="5120640"/>
            <a:ext cx="3063240" cy="457200"/>
          </a:xfrm>
          <a:prstGeom prst="rect">
            <a:avLst/>
          </a:prstGeom>
          <a:noFill/>
          <a:ln/>
        </p:spPr>
        <p:txBody>
          <a:bodyPr wrap="square" rtlCol="0" anchor="ctr"/>
          <a:lstStyle/>
          <a:p>
            <a:pPr marL="0" indent="0">
              <a:lnSpc>
                <a:spcPts val="1300"/>
              </a:lnSpc>
              <a:buNone/>
            </a:pPr>
            <a:r>
              <a:rPr lang="en-US" sz="1050" dirty="0">
                <a:solidFill>
                  <a:srgbClr val="6E7884"/>
                </a:solidFill>
                <a:latin typeface="Calibri" pitchFamily="34" charset="0"/>
                <a:ea typeface="Calibri" pitchFamily="34" charset="-122"/>
                <a:cs typeface="Calibri" pitchFamily="34" charset="-120"/>
              </a:rPr>
              <a:t>Spécification FIRST v3.1, sans aucun appel à un service externe.</a:t>
            </a:r>
            <a:endParaRPr lang="en-US" sz="1050" dirty="0"/>
          </a:p>
        </p:txBody>
      </p:sp>
      <p:sp>
        <p:nvSpPr>
          <p:cNvPr id="24" name="Shape 22"/>
          <p:cNvSpPr/>
          <p:nvPr/>
        </p:nvSpPr>
        <p:spPr>
          <a:xfrm>
            <a:off x="4480560" y="3840480"/>
            <a:ext cx="3520440" cy="1783080"/>
          </a:xfrm>
          <a:prstGeom prst="roundRect">
            <a:avLst>
              <a:gd name="adj" fmla="val 4615"/>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25" name="Shape 23"/>
          <p:cNvSpPr/>
          <p:nvPr/>
        </p:nvSpPr>
        <p:spPr>
          <a:xfrm>
            <a:off x="4709160" y="4069080"/>
            <a:ext cx="640080" cy="640080"/>
          </a:xfrm>
          <a:prstGeom prst="roundRect">
            <a:avLst>
              <a:gd name="adj" fmla="val 20000"/>
            </a:avLst>
          </a:prstGeom>
          <a:solidFill>
            <a:srgbClr val="0D213B"/>
          </a:solidFill>
          <a:ln/>
        </p:spPr>
      </p:sp>
      <p:sp>
        <p:nvSpPr>
          <p:cNvPr id="26" name="Text 24"/>
          <p:cNvSpPr/>
          <p:nvPr/>
        </p:nvSpPr>
        <p:spPr>
          <a:xfrm>
            <a:off x="4709160" y="4069080"/>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4709160" y="4800600"/>
            <a:ext cx="3063240" cy="365760"/>
          </a:xfrm>
          <a:prstGeom prst="rect">
            <a:avLst/>
          </a:prstGeom>
          <a:noFill/>
          <a:ln/>
        </p:spPr>
        <p:txBody>
          <a:bodyPr wrap="square" rtlCol="0" anchor="ctr"/>
          <a:lstStyle/>
          <a:p>
            <a:pPr marL="0" indent="0">
              <a:buNone/>
            </a:pPr>
            <a:r>
              <a:rPr lang="en-US" sz="1350" b="1" dirty="0">
                <a:solidFill>
                  <a:srgbClr val="0D213B"/>
                </a:solidFill>
                <a:latin typeface="Cambria" pitchFamily="34" charset="0"/>
                <a:ea typeface="Cambria" pitchFamily="34" charset="-122"/>
                <a:cs typeface="Cambria" pitchFamily="34" charset="-120"/>
              </a:rPr>
              <a:t>Signalement anonyme protégé</a:t>
            </a:r>
            <a:endParaRPr lang="en-US" sz="1350" dirty="0"/>
          </a:p>
        </p:txBody>
      </p:sp>
      <p:sp>
        <p:nvSpPr>
          <p:cNvPr id="28" name="Text 26"/>
          <p:cNvSpPr/>
          <p:nvPr/>
        </p:nvSpPr>
        <p:spPr>
          <a:xfrm>
            <a:off x="4709160" y="5120640"/>
            <a:ext cx="3063240" cy="457200"/>
          </a:xfrm>
          <a:prstGeom prst="rect">
            <a:avLst/>
          </a:prstGeom>
          <a:noFill/>
          <a:ln/>
        </p:spPr>
        <p:txBody>
          <a:bodyPr wrap="square" rtlCol="0" anchor="ctr"/>
          <a:lstStyle/>
          <a:p>
            <a:pPr marL="0" indent="0">
              <a:lnSpc>
                <a:spcPts val="1300"/>
              </a:lnSpc>
              <a:buNone/>
            </a:pPr>
            <a:r>
              <a:rPr lang="en-US" sz="1050" dirty="0">
                <a:solidFill>
                  <a:srgbClr val="6E7884"/>
                </a:solidFill>
                <a:latin typeface="Calibri" pitchFamily="34" charset="0"/>
                <a:ea typeface="Calibri" pitchFamily="34" charset="-122"/>
                <a:cs typeface="Calibri" pitchFamily="34" charset="-120"/>
              </a:rPr>
              <a:t>Réponse identique, code valide ou non — rien à deviner.</a:t>
            </a:r>
            <a:endParaRPr lang="en-US" sz="1050" dirty="0"/>
          </a:p>
        </p:txBody>
      </p:sp>
      <p:sp>
        <p:nvSpPr>
          <p:cNvPr id="29" name="Shape 27"/>
          <p:cNvSpPr/>
          <p:nvPr/>
        </p:nvSpPr>
        <p:spPr>
          <a:xfrm>
            <a:off x="8321040" y="3840480"/>
            <a:ext cx="3520440" cy="1783080"/>
          </a:xfrm>
          <a:prstGeom prst="roundRect">
            <a:avLst>
              <a:gd name="adj" fmla="val 4615"/>
            </a:avLst>
          </a:prstGeom>
          <a:solidFill>
            <a:srgbClr val="FFFFFF"/>
          </a:solidFill>
          <a:ln w="12700">
            <a:solidFill>
              <a:srgbClr val="DFE3E8"/>
            </a:solidFill>
            <a:prstDash val="solid"/>
          </a:ln>
          <a:effectLst>
            <a:outerShdw blurRad="127000" dist="38100" dir="5400000" algn="bl" rotWithShape="0">
              <a:srgbClr val="1B2430">
                <a:alpha val="18000"/>
              </a:srgbClr>
            </a:outerShdw>
          </a:effectLst>
        </p:spPr>
      </p:sp>
      <p:sp>
        <p:nvSpPr>
          <p:cNvPr id="30" name="Shape 28"/>
          <p:cNvSpPr/>
          <p:nvPr/>
        </p:nvSpPr>
        <p:spPr>
          <a:xfrm>
            <a:off x="8549640" y="4069080"/>
            <a:ext cx="640080" cy="640080"/>
          </a:xfrm>
          <a:prstGeom prst="roundRect">
            <a:avLst>
              <a:gd name="adj" fmla="val 20000"/>
            </a:avLst>
          </a:prstGeom>
          <a:solidFill>
            <a:srgbClr val="0D213B"/>
          </a:solidFill>
          <a:ln/>
        </p:spPr>
      </p:sp>
      <p:sp>
        <p:nvSpPr>
          <p:cNvPr id="31" name="Text 29"/>
          <p:cNvSpPr/>
          <p:nvPr/>
        </p:nvSpPr>
        <p:spPr>
          <a:xfrm>
            <a:off x="8549640" y="4069080"/>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2" name="Text 30"/>
          <p:cNvSpPr/>
          <p:nvPr/>
        </p:nvSpPr>
        <p:spPr>
          <a:xfrm>
            <a:off x="8549640" y="4800600"/>
            <a:ext cx="3063240" cy="365760"/>
          </a:xfrm>
          <a:prstGeom prst="rect">
            <a:avLst/>
          </a:prstGeom>
          <a:noFill/>
          <a:ln/>
        </p:spPr>
        <p:txBody>
          <a:bodyPr wrap="square" rtlCol="0" anchor="ctr"/>
          <a:lstStyle/>
          <a:p>
            <a:pPr marL="0" indent="0">
              <a:buNone/>
            </a:pPr>
            <a:r>
              <a:rPr lang="en-US" sz="1350" b="1" dirty="0">
                <a:solidFill>
                  <a:srgbClr val="0D213B"/>
                </a:solidFill>
                <a:latin typeface="Cambria" pitchFamily="34" charset="0"/>
                <a:ea typeface="Cambria" pitchFamily="34" charset="-122"/>
                <a:cs typeface="Cambria" pitchFamily="34" charset="-120"/>
              </a:rPr>
              <a:t>Aucun flux financier réel</a:t>
            </a:r>
            <a:endParaRPr lang="en-US" sz="1350" dirty="0"/>
          </a:p>
        </p:txBody>
      </p:sp>
      <p:sp>
        <p:nvSpPr>
          <p:cNvPr id="33" name="Text 31"/>
          <p:cNvSpPr/>
          <p:nvPr/>
        </p:nvSpPr>
        <p:spPr>
          <a:xfrm>
            <a:off x="8549640" y="5120640"/>
            <a:ext cx="3063240" cy="457200"/>
          </a:xfrm>
          <a:prstGeom prst="rect">
            <a:avLst/>
          </a:prstGeom>
          <a:noFill/>
          <a:ln/>
        </p:spPr>
        <p:txBody>
          <a:bodyPr wrap="square" rtlCol="0" anchor="ctr"/>
          <a:lstStyle/>
          <a:p>
            <a:pPr marL="0" indent="0">
              <a:lnSpc>
                <a:spcPts val="1300"/>
              </a:lnSpc>
              <a:buNone/>
            </a:pPr>
            <a:r>
              <a:rPr lang="en-US" sz="1050" dirty="0">
                <a:solidFill>
                  <a:srgbClr val="6E7884"/>
                </a:solidFill>
                <a:latin typeface="Calibri" pitchFamily="34" charset="0"/>
                <a:ea typeface="Calibri" pitchFamily="34" charset="-122"/>
                <a:cs typeface="Calibri" pitchFamily="34" charset="-120"/>
              </a:rPr>
              <a:t>Les récompenses sont tracées, pas exécutées automatiquement.</a:t>
            </a:r>
            <a:endParaRPr lang="en-US" sz="1050" dirty="0"/>
          </a:p>
        </p:txBody>
      </p:sp>
      <p:sp>
        <p:nvSpPr>
          <p:cNvPr id="34" name="Text 32"/>
          <p:cNvSpPr/>
          <p:nvPr/>
        </p:nvSpPr>
        <p:spPr>
          <a:xfrm>
            <a:off x="11505895" y="6400800"/>
            <a:ext cx="502920" cy="274320"/>
          </a:xfrm>
          <a:prstGeom prst="rect">
            <a:avLst/>
          </a:prstGeom>
          <a:noFill/>
          <a:ln/>
        </p:spPr>
        <p:txBody>
          <a:bodyPr wrap="square" rtlCol="0" anchor="ctr"/>
          <a:lstStyle/>
          <a:p>
            <a:pPr marL="0" indent="0" algn="r">
              <a:buNone/>
            </a:pPr>
            <a:r>
              <a:rPr lang="en-US" sz="1000" dirty="0">
                <a:solidFill>
                  <a:srgbClr val="AAB4C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213B"/>
        </a:solidFill>
        <a:effectLst/>
      </p:bgPr>
    </p:bg>
    <p:spTree>
      <p:nvGrpSpPr>
        <p:cNvPr id="1" name=""/>
        <p:cNvGrpSpPr/>
        <p:nvPr/>
      </p:nvGrpSpPr>
      <p:grpSpPr>
        <a:xfrm>
          <a:off x="0" y="0"/>
          <a:ext cx="0" cy="0"/>
          <a:chOff x="0" y="0"/>
          <a:chExt cx="0" cy="0"/>
        </a:xfrm>
      </p:grpSpPr>
      <p:sp>
        <p:nvSpPr>
          <p:cNvPr id="2" name="Shape 0"/>
          <p:cNvSpPr/>
          <p:nvPr/>
        </p:nvSpPr>
        <p:spPr>
          <a:xfrm>
            <a:off x="-1828800" y="3840480"/>
            <a:ext cx="5486400" cy="5486400"/>
          </a:xfrm>
          <a:prstGeom prst="ellipse">
            <a:avLst/>
          </a:prstGeom>
          <a:solidFill>
            <a:srgbClr val="17375E"/>
          </a:solidFill>
          <a:ln/>
        </p:spPr>
      </p:sp>
      <p:sp>
        <p:nvSpPr>
          <p:cNvPr id="3" name="Shape 1"/>
          <p:cNvSpPr/>
          <p:nvPr/>
        </p:nvSpPr>
        <p:spPr>
          <a:xfrm>
            <a:off x="9692640" y="-2286000"/>
            <a:ext cx="4572000" cy="4572000"/>
          </a:xfrm>
          <a:prstGeom prst="ellipse">
            <a:avLst/>
          </a:prstGeom>
          <a:solidFill>
            <a:srgbClr val="0D7A5F"/>
          </a:solidFill>
          <a:ln/>
        </p:spPr>
      </p:sp>
      <p:sp>
        <p:nvSpPr>
          <p:cNvPr id="4" name="Shape 2"/>
          <p:cNvSpPr/>
          <p:nvPr/>
        </p:nvSpPr>
        <p:spPr>
          <a:xfrm>
            <a:off x="9966960" y="-2011680"/>
            <a:ext cx="4023360" cy="4023360"/>
          </a:xfrm>
          <a:prstGeom prst="ellipse">
            <a:avLst/>
          </a:prstGeom>
          <a:solidFill>
            <a:srgbClr val="0D213B"/>
          </a:solidFill>
          <a:ln/>
        </p:spPr>
      </p:sp>
      <p:sp>
        <p:nvSpPr>
          <p:cNvPr id="5" name="Text 3"/>
          <p:cNvSpPr/>
          <p:nvPr/>
        </p:nvSpPr>
        <p:spPr>
          <a:xfrm>
            <a:off x="731520" y="1371600"/>
            <a:ext cx="5486400" cy="365760"/>
          </a:xfrm>
          <a:prstGeom prst="rect">
            <a:avLst/>
          </a:prstGeom>
          <a:noFill/>
          <a:ln/>
        </p:spPr>
        <p:txBody>
          <a:bodyPr wrap="square" rtlCol="0" anchor="ctr"/>
          <a:lstStyle/>
          <a:p>
            <a:pPr marL="0" indent="0">
              <a:buNone/>
            </a:pPr>
            <a:r>
              <a:rPr lang="en-US" sz="1300" b="1" kern="0" spc="200" dirty="0">
                <a:solidFill>
                  <a:srgbClr val="DBF2EA"/>
                </a:solidFill>
                <a:latin typeface="Calibri" pitchFamily="34" charset="0"/>
                <a:ea typeface="Calibri" pitchFamily="34" charset="-122"/>
                <a:cs typeface="Calibri" pitchFamily="34" charset="-120"/>
              </a:rPr>
              <a:t>CONCLUSION</a:t>
            </a:r>
            <a:endParaRPr lang="en-US" sz="1300" dirty="0"/>
          </a:p>
        </p:txBody>
      </p:sp>
      <p:sp>
        <p:nvSpPr>
          <p:cNvPr id="6" name="Text 4"/>
          <p:cNvSpPr/>
          <p:nvPr/>
        </p:nvSpPr>
        <p:spPr>
          <a:xfrm>
            <a:off x="731520" y="1828800"/>
            <a:ext cx="8686800" cy="1645920"/>
          </a:xfrm>
          <a:prstGeom prst="rect">
            <a:avLst/>
          </a:prstGeom>
          <a:noFill/>
          <a:ln/>
        </p:spPr>
        <p:txBody>
          <a:bodyPr wrap="square"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Un processus structuré,</a:t>
            </a:r>
            <a:endParaRPr lang="en-US" sz="3400" dirty="0"/>
          </a:p>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tracé et adapté au Burkina Faso</a:t>
            </a:r>
            <a:endParaRPr lang="en-US" sz="3400" dirty="0"/>
          </a:p>
        </p:txBody>
      </p:sp>
      <p:sp>
        <p:nvSpPr>
          <p:cNvPr id="7" name="Text 5"/>
          <p:cNvSpPr/>
          <p:nvPr/>
        </p:nvSpPr>
        <p:spPr>
          <a:xfrm>
            <a:off x="731520" y="3611880"/>
            <a:ext cx="7772400" cy="1097280"/>
          </a:xfrm>
          <a:prstGeom prst="rect">
            <a:avLst/>
          </a:prstGeom>
          <a:noFill/>
          <a:ln/>
        </p:spPr>
        <p:txBody>
          <a:bodyPr wrap="square" rtlCol="0" anchor="ctr"/>
          <a:lstStyle/>
          <a:p>
            <a:pPr marL="0" indent="0">
              <a:lnSpc>
                <a:spcPts val="2100"/>
              </a:lnSpc>
              <a:buNone/>
            </a:pPr>
            <a:r>
              <a:rPr lang="en-US" sz="1500" dirty="0">
                <a:solidFill>
                  <a:srgbClr val="C8D4E0"/>
                </a:solidFill>
                <a:latin typeface="Calibri" pitchFamily="34" charset="0"/>
                <a:ea typeface="Calibri" pitchFamily="34" charset="-122"/>
                <a:cs typeface="Calibri" pitchFamily="34" charset="-120"/>
              </a:rPr>
              <a:t>eVDP formalise ce qui reste souvent informel : réception, qualification, suivi et clôture coordonnée d'un signalement — avec responsabilités séparées, traçabilité intégrale et retour systématique au déclarant, identifié ou anonyme.</a:t>
            </a:r>
            <a:endParaRPr lang="en-US" sz="1500" dirty="0"/>
          </a:p>
        </p:txBody>
      </p:sp>
      <p:sp>
        <p:nvSpPr>
          <p:cNvPr id="8" name="Shape 6"/>
          <p:cNvSpPr/>
          <p:nvPr/>
        </p:nvSpPr>
        <p:spPr>
          <a:xfrm>
            <a:off x="731520" y="5029200"/>
            <a:ext cx="1280160" cy="0"/>
          </a:xfrm>
          <a:prstGeom prst="line">
            <a:avLst/>
          </a:prstGeom>
          <a:noFill/>
          <a:ln w="38100">
            <a:solidFill>
              <a:srgbClr val="C49428"/>
            </a:solidFill>
            <a:prstDash val="solid"/>
          </a:ln>
        </p:spPr>
      </p:sp>
      <p:sp>
        <p:nvSpPr>
          <p:cNvPr id="9" name="Text 7"/>
          <p:cNvSpPr/>
          <p:nvPr/>
        </p:nvSpPr>
        <p:spPr>
          <a:xfrm>
            <a:off x="731520" y="5212080"/>
            <a:ext cx="548640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Merci de votre attention</a:t>
            </a:r>
            <a:endParaRPr lang="en-US" sz="2000" dirty="0"/>
          </a:p>
        </p:txBody>
      </p:sp>
      <p:sp>
        <p:nvSpPr>
          <p:cNvPr id="10" name="Text 8"/>
          <p:cNvSpPr/>
          <p:nvPr/>
        </p:nvSpPr>
        <p:spPr>
          <a:xfrm>
            <a:off x="731520" y="5760720"/>
            <a:ext cx="7315200" cy="365760"/>
          </a:xfrm>
          <a:prstGeom prst="rect">
            <a:avLst/>
          </a:prstGeom>
          <a:noFill/>
          <a:ln/>
        </p:spPr>
        <p:txBody>
          <a:bodyPr wrap="square" rtlCol="0" anchor="ctr"/>
          <a:lstStyle/>
          <a:p>
            <a:pPr marL="0" indent="0">
              <a:buNone/>
            </a:pPr>
            <a:r>
              <a:rPr lang="en-US" sz="1200" dirty="0">
                <a:solidFill>
                  <a:srgbClr val="8FA0B5"/>
                </a:solidFill>
                <a:latin typeface="Calibri" pitchFamily="34" charset="0"/>
                <a:ea typeface="Calibri" pitchFamily="34" charset="-122"/>
                <a:cs typeface="Calibri" pitchFamily="34" charset="-120"/>
              </a:rPr>
              <a:t>eVDP — CYBER-DEF 2 / FASO SHIELD — ÉLITE IT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1572</Words>
  <Application>Microsoft Office PowerPoint</Application>
  <PresentationFormat>Grand écran</PresentationFormat>
  <Paragraphs>246</Paragraphs>
  <Slides>17</Slides>
  <Notes>17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imam ouedraogo</cp:lastModifiedBy>
  <cp:revision>2</cp:revision>
  <dcterms:created xsi:type="dcterms:W3CDTF">2026-09-12T20:14:44Z</dcterms:created>
  <dcterms:modified xsi:type="dcterms:W3CDTF">2026-09-13T09:01:45Z</dcterms:modified>
</cp:coreProperties>
</file>